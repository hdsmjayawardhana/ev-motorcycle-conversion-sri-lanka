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15.jpg" ContentType="image/jpeg"/>
  <Override PartName="/ppt/media/image28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71" r:id="rId7"/>
    <p:sldId id="263" r:id="rId8"/>
    <p:sldId id="260" r:id="rId9"/>
    <p:sldId id="273" r:id="rId10"/>
    <p:sldId id="275" r:id="rId11"/>
    <p:sldId id="274" r:id="rId12"/>
    <p:sldId id="266" r:id="rId13"/>
    <p:sldId id="264" r:id="rId14"/>
    <p:sldId id="268" r:id="rId15"/>
  </p:sldIdLst>
  <p:sldSz cx="18288000" cy="10287000"/>
  <p:notesSz cx="6858000" cy="9144000"/>
  <p:embeddedFontLst>
    <p:embeddedFont>
      <p:font typeface="Cormorant Garamond Bold" panose="020B0604020202020204" charset="0"/>
      <p:regular r:id="rId16"/>
    </p:embeddedFont>
    <p:embeddedFont>
      <p:font typeface="Cormorant Garamond Bold Italics" panose="020B0604020202020204" charset="0"/>
      <p:regular r:id="rId17"/>
    </p:embeddedFont>
    <p:embeddedFont>
      <p:font typeface="Glacial Indifference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442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809790" y="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809790" y="5826116"/>
            <a:ext cx="4478210" cy="4478210"/>
          </a:xfrm>
          <a:custGeom>
            <a:avLst/>
            <a:gdLst/>
            <a:ahLst/>
            <a:cxnLst/>
            <a:rect l="l" t="t" r="r" b="b"/>
            <a:pathLst>
              <a:path w="4478210" h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28281" y="6626925"/>
            <a:ext cx="9334701" cy="2481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1"/>
              </a:lnSpc>
            </a:pPr>
            <a:r>
              <a:rPr lang="en-US" sz="3594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E/19/169</a:t>
            </a:r>
          </a:p>
          <a:p>
            <a:pPr algn="l">
              <a:lnSpc>
                <a:spcPts val="5031"/>
              </a:lnSpc>
            </a:pPr>
            <a:r>
              <a:rPr lang="en-US" sz="3594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JAYAWARDHANA H.D.S.M.</a:t>
            </a:r>
          </a:p>
          <a:p>
            <a:pPr algn="l">
              <a:lnSpc>
                <a:spcPts val="5031"/>
              </a:lnSpc>
            </a:pPr>
            <a:r>
              <a:rPr lang="en-US" sz="28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Department of Mechanical Engineering </a:t>
            </a:r>
          </a:p>
          <a:p>
            <a:pPr algn="l">
              <a:lnSpc>
                <a:spcPts val="5031"/>
              </a:lnSpc>
            </a:pPr>
            <a:r>
              <a:rPr lang="en-US" sz="28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University of Peradeniya</a:t>
            </a:r>
          </a:p>
        </p:txBody>
      </p:sp>
      <p:sp>
        <p:nvSpPr>
          <p:cNvPr id="7" name="AutoShape 7"/>
          <p:cNvSpPr/>
          <p:nvPr/>
        </p:nvSpPr>
        <p:spPr>
          <a:xfrm flipH="1">
            <a:off x="1925123" y="2221779"/>
            <a:ext cx="0" cy="5843443"/>
          </a:xfrm>
          <a:prstGeom prst="line">
            <a:avLst/>
          </a:prstGeom>
          <a:ln w="57150" cap="flat">
            <a:solidFill>
              <a:srgbClr val="2D388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5"/>
          <p:cNvSpPr txBox="1"/>
          <p:nvPr/>
        </p:nvSpPr>
        <p:spPr>
          <a:xfrm>
            <a:off x="2133600" y="3284304"/>
            <a:ext cx="15333042" cy="330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82"/>
              </a:lnSpc>
            </a:pPr>
            <a:r>
              <a:rPr lang="en-US" sz="8482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Feasibility Study and Implementation of EV Conversions for Motorcycles in Sri Lanka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8FF4D-B3C3-10AE-7F5B-C5F47AE1AB97}"/>
              </a:ext>
            </a:extLst>
          </p:cNvPr>
          <p:cNvSpPr txBox="1"/>
          <p:nvPr/>
        </p:nvSpPr>
        <p:spPr>
          <a:xfrm>
            <a:off x="2743211" y="7295779"/>
            <a:ext cx="6210088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Supervisor : </a:t>
            </a:r>
            <a:r>
              <a:rPr lang="en-US" dirty="0" err="1"/>
              <a:t>Ms.Lekha</a:t>
            </a:r>
            <a:r>
              <a:rPr lang="en-US" dirty="0"/>
              <a:t> </a:t>
            </a:r>
            <a:r>
              <a:rPr lang="en-US" dirty="0" err="1"/>
              <a:t>Bakmeedeniya</a:t>
            </a:r>
            <a:r>
              <a:rPr lang="en-US" dirty="0"/>
              <a:t>,</a:t>
            </a:r>
          </a:p>
          <a:p>
            <a:r>
              <a:rPr lang="en-US" dirty="0"/>
              <a:t>                         University of Peradeniya</a:t>
            </a:r>
          </a:p>
          <a:p>
            <a:r>
              <a:rPr lang="en-US" sz="2000" b="1" dirty="0"/>
              <a:t>Co – Supervisor : </a:t>
            </a:r>
            <a:r>
              <a:rPr lang="en-US" dirty="0"/>
              <a:t>Eng. Tharanga </a:t>
            </a:r>
            <a:r>
              <a:rPr lang="en-US" dirty="0" err="1"/>
              <a:t>Wickramarathna</a:t>
            </a:r>
            <a:r>
              <a:rPr lang="en-US" dirty="0"/>
              <a:t>,</a:t>
            </a:r>
          </a:p>
          <a:p>
            <a:r>
              <a:rPr lang="en-US" dirty="0"/>
              <a:t>                                   Project Manager,</a:t>
            </a:r>
          </a:p>
          <a:p>
            <a:r>
              <a:rPr lang="en-US" dirty="0"/>
              <a:t>                                   Ceylon Electricity 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5796756"/>
            <a:ext cx="5703543" cy="4490244"/>
          </a:xfrm>
          <a:custGeom>
            <a:avLst/>
            <a:gdLst/>
            <a:ahLst/>
            <a:cxnLst/>
            <a:rect l="l" t="t" r="r" b="b"/>
            <a:pathLst>
              <a:path w="5703543" h="4490244">
                <a:moveTo>
                  <a:pt x="0" y="4490244"/>
                </a:moveTo>
                <a:lnTo>
                  <a:pt x="5703543" y="4490244"/>
                </a:lnTo>
                <a:lnTo>
                  <a:pt x="5703543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87794" y="6483050"/>
            <a:ext cx="3700206" cy="3803950"/>
          </a:xfrm>
          <a:custGeom>
            <a:avLst/>
            <a:gdLst/>
            <a:ahLst/>
            <a:cxnLst/>
            <a:rect l="l" t="t" r="r" b="b"/>
            <a:pathLst>
              <a:path w="3700206" h="3803950">
                <a:moveTo>
                  <a:pt x="0" y="0"/>
                </a:moveTo>
                <a:lnTo>
                  <a:pt x="3700206" y="0"/>
                </a:lnTo>
                <a:lnTo>
                  <a:pt x="3700206" y="3803950"/>
                </a:lnTo>
                <a:lnTo>
                  <a:pt x="0" y="3803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786379" y="895350"/>
            <a:ext cx="12715243" cy="1321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9600" b="1" i="1" u="sng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Agenda Overview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786379" y="3029301"/>
            <a:ext cx="842787" cy="84278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86379" y="4157838"/>
            <a:ext cx="842787" cy="8427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86379" y="5286375"/>
            <a:ext cx="842787" cy="8427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786379" y="6414912"/>
            <a:ext cx="842787" cy="84278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94202" y="3029301"/>
            <a:ext cx="842787" cy="84278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 dirty="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06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494202" y="4157838"/>
            <a:ext cx="842787" cy="84278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 dirty="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94202" y="5286375"/>
            <a:ext cx="842787" cy="84278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 dirty="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08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94202" y="6414912"/>
            <a:ext cx="842787" cy="842787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 dirty="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09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837582" y="3164945"/>
            <a:ext cx="495508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Introduction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37582" y="4293482"/>
            <a:ext cx="495508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Objectives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837582" y="5417431"/>
            <a:ext cx="495508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Timeline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837582" y="6541381"/>
            <a:ext cx="495508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Literature Review Insights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546539" y="3153197"/>
            <a:ext cx="495508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 Completed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545406" y="4293482"/>
            <a:ext cx="495621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Conversion Kit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45406" y="5422019"/>
            <a:ext cx="495621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Challenges &amp; Mitigations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545406" y="6538808"/>
            <a:ext cx="6904394" cy="535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Future Work &amp; Expected Outcomes</a:t>
            </a:r>
          </a:p>
        </p:txBody>
      </p:sp>
      <p:sp>
        <p:nvSpPr>
          <p:cNvPr id="37" name="TextBox 32">
            <a:extLst>
              <a:ext uri="{FF2B5EF4-FFF2-40B4-BE49-F238E27FC236}">
                <a16:creationId xmlns:a16="http://schemas.microsoft.com/office/drawing/2014/main" id="{EB1C3FDE-11E0-ECC6-6BE0-65369E1B4CCC}"/>
              </a:ext>
            </a:extLst>
          </p:cNvPr>
          <p:cNvSpPr txBox="1"/>
          <p:nvPr/>
        </p:nvSpPr>
        <p:spPr>
          <a:xfrm>
            <a:off x="10553920" y="7764191"/>
            <a:ext cx="495508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Conclusion</a:t>
            </a:r>
          </a:p>
        </p:txBody>
      </p:sp>
      <p:sp>
        <p:nvSpPr>
          <p:cNvPr id="38" name="TextBox 32">
            <a:extLst>
              <a:ext uri="{FF2B5EF4-FFF2-40B4-BE49-F238E27FC236}">
                <a16:creationId xmlns:a16="http://schemas.microsoft.com/office/drawing/2014/main" id="{098B0B2A-1BDB-1E6B-32DB-42634C40F98D}"/>
              </a:ext>
            </a:extLst>
          </p:cNvPr>
          <p:cNvSpPr txBox="1"/>
          <p:nvPr/>
        </p:nvSpPr>
        <p:spPr>
          <a:xfrm>
            <a:off x="3819997" y="7692930"/>
            <a:ext cx="495508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Innovative Idea</a:t>
            </a:r>
          </a:p>
        </p:txBody>
      </p:sp>
      <p:sp>
        <p:nvSpPr>
          <p:cNvPr id="40" name="Freeform 27">
            <a:extLst>
              <a:ext uri="{FF2B5EF4-FFF2-40B4-BE49-F238E27FC236}">
                <a16:creationId xmlns:a16="http://schemas.microsoft.com/office/drawing/2014/main" id="{A7CA052C-19D2-B2AE-E101-11069C502516}"/>
              </a:ext>
            </a:extLst>
          </p:cNvPr>
          <p:cNvSpPr/>
          <p:nvPr/>
        </p:nvSpPr>
        <p:spPr>
          <a:xfrm>
            <a:off x="9488625" y="7543449"/>
            <a:ext cx="842787" cy="84278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D3880"/>
          </a:solidFill>
        </p:spPr>
      </p:sp>
      <p:sp>
        <p:nvSpPr>
          <p:cNvPr id="41" name="Freeform 27">
            <a:extLst>
              <a:ext uri="{FF2B5EF4-FFF2-40B4-BE49-F238E27FC236}">
                <a16:creationId xmlns:a16="http://schemas.microsoft.com/office/drawing/2014/main" id="{FAC0E995-290B-78AE-5135-3A8AFEDA5AB8}"/>
              </a:ext>
            </a:extLst>
          </p:cNvPr>
          <p:cNvSpPr/>
          <p:nvPr/>
        </p:nvSpPr>
        <p:spPr>
          <a:xfrm>
            <a:off x="2786378" y="7542238"/>
            <a:ext cx="842787" cy="84278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D3880"/>
          </a:solidFill>
        </p:spPr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1D661A0D-28A7-A451-A4BC-B67F710C3D19}"/>
              </a:ext>
            </a:extLst>
          </p:cNvPr>
          <p:cNvSpPr txBox="1"/>
          <p:nvPr/>
        </p:nvSpPr>
        <p:spPr>
          <a:xfrm>
            <a:off x="9582658" y="7586724"/>
            <a:ext cx="684764" cy="74402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920"/>
              </a:lnSpc>
            </a:pPr>
            <a:r>
              <a:rPr lang="en-US" sz="2800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10</a:t>
            </a:r>
          </a:p>
        </p:txBody>
      </p:sp>
      <p:sp>
        <p:nvSpPr>
          <p:cNvPr id="43" name="TextBox 19">
            <a:extLst>
              <a:ext uri="{FF2B5EF4-FFF2-40B4-BE49-F238E27FC236}">
                <a16:creationId xmlns:a16="http://schemas.microsoft.com/office/drawing/2014/main" id="{6E858CF6-297A-3970-C3A2-A1E390DC012E}"/>
              </a:ext>
            </a:extLst>
          </p:cNvPr>
          <p:cNvSpPr txBox="1"/>
          <p:nvPr/>
        </p:nvSpPr>
        <p:spPr>
          <a:xfrm>
            <a:off x="2840333" y="7558013"/>
            <a:ext cx="684764" cy="74402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920"/>
              </a:lnSpc>
            </a:pPr>
            <a:r>
              <a:rPr lang="en-US" sz="2800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05</a:t>
            </a:r>
          </a:p>
        </p:txBody>
      </p:sp>
      <p:grpSp>
        <p:nvGrpSpPr>
          <p:cNvPr id="44" name="object 12">
            <a:extLst>
              <a:ext uri="{FF2B5EF4-FFF2-40B4-BE49-F238E27FC236}">
                <a16:creationId xmlns:a16="http://schemas.microsoft.com/office/drawing/2014/main" id="{E1C033C6-8992-5FB6-834A-5E191CB21B25}"/>
              </a:ext>
            </a:extLst>
          </p:cNvPr>
          <p:cNvGrpSpPr/>
          <p:nvPr/>
        </p:nvGrpSpPr>
        <p:grpSpPr>
          <a:xfrm>
            <a:off x="15129827" y="2643654"/>
            <a:ext cx="2144395" cy="3002915"/>
            <a:chOff x="6458458" y="1148080"/>
            <a:chExt cx="2144395" cy="3002915"/>
          </a:xfrm>
        </p:grpSpPr>
        <p:sp>
          <p:nvSpPr>
            <p:cNvPr id="45" name="object 13">
              <a:extLst>
                <a:ext uri="{FF2B5EF4-FFF2-40B4-BE49-F238E27FC236}">
                  <a16:creationId xmlns:a16="http://schemas.microsoft.com/office/drawing/2014/main" id="{CEEA89C6-9B40-821D-33C7-6E53C7BB12B3}"/>
                </a:ext>
              </a:extLst>
            </p:cNvPr>
            <p:cNvSpPr/>
            <p:nvPr/>
          </p:nvSpPr>
          <p:spPr>
            <a:xfrm>
              <a:off x="7175754" y="1337945"/>
              <a:ext cx="241300" cy="1443990"/>
            </a:xfrm>
            <a:custGeom>
              <a:avLst/>
              <a:gdLst/>
              <a:ahLst/>
              <a:cxnLst/>
              <a:rect l="l" t="t" r="r" b="b"/>
              <a:pathLst>
                <a:path w="241300" h="1443989">
                  <a:moveTo>
                    <a:pt x="2413" y="0"/>
                  </a:moveTo>
                  <a:lnTo>
                    <a:pt x="0" y="917574"/>
                  </a:lnTo>
                  <a:lnTo>
                    <a:pt x="238378" y="1443481"/>
                  </a:lnTo>
                  <a:lnTo>
                    <a:pt x="240792" y="525906"/>
                  </a:lnTo>
                  <a:lnTo>
                    <a:pt x="2413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14">
              <a:extLst>
                <a:ext uri="{FF2B5EF4-FFF2-40B4-BE49-F238E27FC236}">
                  <a16:creationId xmlns:a16="http://schemas.microsoft.com/office/drawing/2014/main" id="{A8E5FD76-99D6-E20B-FD9D-25DBABF9421B}"/>
                </a:ext>
              </a:extLst>
            </p:cNvPr>
            <p:cNvSpPr/>
            <p:nvPr/>
          </p:nvSpPr>
          <p:spPr>
            <a:xfrm>
              <a:off x="7414895" y="1842643"/>
              <a:ext cx="334645" cy="951230"/>
            </a:xfrm>
            <a:custGeom>
              <a:avLst/>
              <a:gdLst/>
              <a:ahLst/>
              <a:cxnLst/>
              <a:rect l="l" t="t" r="r" b="b"/>
              <a:pathLst>
                <a:path w="334645" h="951230">
                  <a:moveTo>
                    <a:pt x="178180" y="0"/>
                  </a:moveTo>
                  <a:lnTo>
                    <a:pt x="146050" y="0"/>
                  </a:lnTo>
                  <a:lnTo>
                    <a:pt x="131318" y="0"/>
                  </a:lnTo>
                  <a:lnTo>
                    <a:pt x="124459" y="889"/>
                  </a:lnTo>
                  <a:lnTo>
                    <a:pt x="115697" y="889"/>
                  </a:lnTo>
                  <a:lnTo>
                    <a:pt x="77597" y="5334"/>
                  </a:lnTo>
                  <a:lnTo>
                    <a:pt x="69976" y="7112"/>
                  </a:lnTo>
                  <a:lnTo>
                    <a:pt x="61849" y="7874"/>
                  </a:lnTo>
                  <a:lnTo>
                    <a:pt x="53721" y="9779"/>
                  </a:lnTo>
                  <a:lnTo>
                    <a:pt x="46100" y="10668"/>
                  </a:lnTo>
                  <a:lnTo>
                    <a:pt x="16890" y="17780"/>
                  </a:lnTo>
                  <a:lnTo>
                    <a:pt x="2158" y="22098"/>
                  </a:lnTo>
                  <a:lnTo>
                    <a:pt x="0" y="939673"/>
                  </a:lnTo>
                  <a:lnTo>
                    <a:pt x="27622" y="932735"/>
                  </a:lnTo>
                  <a:lnTo>
                    <a:pt x="40766" y="930021"/>
                  </a:lnTo>
                  <a:lnTo>
                    <a:pt x="51307" y="927227"/>
                  </a:lnTo>
                  <a:lnTo>
                    <a:pt x="59435" y="925576"/>
                  </a:lnTo>
                  <a:lnTo>
                    <a:pt x="67690" y="924687"/>
                  </a:lnTo>
                  <a:lnTo>
                    <a:pt x="98044" y="920115"/>
                  </a:lnTo>
                  <a:lnTo>
                    <a:pt x="105663" y="920115"/>
                  </a:lnTo>
                  <a:lnTo>
                    <a:pt x="120269" y="918464"/>
                  </a:lnTo>
                  <a:lnTo>
                    <a:pt x="175259" y="918464"/>
                  </a:lnTo>
                  <a:lnTo>
                    <a:pt x="209676" y="921131"/>
                  </a:lnTo>
                  <a:lnTo>
                    <a:pt x="219582" y="922909"/>
                  </a:lnTo>
                  <a:lnTo>
                    <a:pt x="231394" y="924687"/>
                  </a:lnTo>
                  <a:lnTo>
                    <a:pt x="241300" y="925576"/>
                  </a:lnTo>
                  <a:lnTo>
                    <a:pt x="252983" y="928116"/>
                  </a:lnTo>
                  <a:lnTo>
                    <a:pt x="262889" y="930021"/>
                  </a:lnTo>
                  <a:lnTo>
                    <a:pt x="275208" y="933577"/>
                  </a:lnTo>
                  <a:lnTo>
                    <a:pt x="285114" y="936117"/>
                  </a:lnTo>
                  <a:lnTo>
                    <a:pt x="319214" y="946340"/>
                  </a:lnTo>
                  <a:lnTo>
                    <a:pt x="325592" y="948590"/>
                  </a:lnTo>
                  <a:lnTo>
                    <a:pt x="331850" y="951103"/>
                  </a:lnTo>
                  <a:lnTo>
                    <a:pt x="334136" y="32639"/>
                  </a:lnTo>
                  <a:lnTo>
                    <a:pt x="327941" y="30144"/>
                  </a:lnTo>
                  <a:lnTo>
                    <a:pt x="309118" y="23876"/>
                  </a:lnTo>
                  <a:lnTo>
                    <a:pt x="305561" y="22987"/>
                  </a:lnTo>
                  <a:lnTo>
                    <a:pt x="302005" y="21209"/>
                  </a:lnTo>
                  <a:lnTo>
                    <a:pt x="299720" y="21209"/>
                  </a:lnTo>
                  <a:lnTo>
                    <a:pt x="278129" y="14986"/>
                  </a:lnTo>
                  <a:lnTo>
                    <a:pt x="265175" y="12319"/>
                  </a:lnTo>
                  <a:lnTo>
                    <a:pt x="259969" y="10668"/>
                  </a:lnTo>
                  <a:lnTo>
                    <a:pt x="255904" y="9779"/>
                  </a:lnTo>
                  <a:lnTo>
                    <a:pt x="221996" y="4318"/>
                  </a:lnTo>
                  <a:lnTo>
                    <a:pt x="215519" y="3556"/>
                  </a:lnTo>
                  <a:lnTo>
                    <a:pt x="212089" y="3556"/>
                  </a:lnTo>
                  <a:lnTo>
                    <a:pt x="199771" y="1778"/>
                  </a:lnTo>
                  <a:lnTo>
                    <a:pt x="178180" y="0"/>
                  </a:lnTo>
                  <a:close/>
                </a:path>
              </a:pathLst>
            </a:custGeom>
            <a:solidFill>
              <a:srgbClr val="374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15">
              <a:extLst>
                <a:ext uri="{FF2B5EF4-FFF2-40B4-BE49-F238E27FC236}">
                  <a16:creationId xmlns:a16="http://schemas.microsoft.com/office/drawing/2014/main" id="{25DD7B45-4E0C-1F6C-8B17-9B1FF7426CFE}"/>
                </a:ext>
              </a:extLst>
            </p:cNvPr>
            <p:cNvSpPr/>
            <p:nvPr/>
          </p:nvSpPr>
          <p:spPr>
            <a:xfrm>
              <a:off x="7747254" y="1357376"/>
              <a:ext cx="257810" cy="1435735"/>
            </a:xfrm>
            <a:custGeom>
              <a:avLst/>
              <a:gdLst/>
              <a:ahLst/>
              <a:cxnLst/>
              <a:rect l="l" t="t" r="r" b="b"/>
              <a:pathLst>
                <a:path w="257809" h="1435735">
                  <a:moveTo>
                    <a:pt x="257810" y="0"/>
                  </a:moveTo>
                  <a:lnTo>
                    <a:pt x="2413" y="517906"/>
                  </a:lnTo>
                  <a:lnTo>
                    <a:pt x="0" y="1435608"/>
                  </a:lnTo>
                  <a:lnTo>
                    <a:pt x="255397" y="917448"/>
                  </a:lnTo>
                  <a:lnTo>
                    <a:pt x="257810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16">
              <a:extLst>
                <a:ext uri="{FF2B5EF4-FFF2-40B4-BE49-F238E27FC236}">
                  <a16:creationId xmlns:a16="http://schemas.microsoft.com/office/drawing/2014/main" id="{5A6B316F-0F67-95E9-9776-EFD1B0D7AF94}"/>
                </a:ext>
              </a:extLst>
            </p:cNvPr>
            <p:cNvSpPr/>
            <p:nvPr/>
          </p:nvSpPr>
          <p:spPr>
            <a:xfrm>
              <a:off x="6552298" y="1276349"/>
              <a:ext cx="1452880" cy="1016000"/>
            </a:xfrm>
            <a:custGeom>
              <a:avLst/>
              <a:gdLst/>
              <a:ahLst/>
              <a:cxnLst/>
              <a:rect l="l" t="t" r="r" b="b"/>
              <a:pathLst>
                <a:path w="1452879" h="1016000">
                  <a:moveTo>
                    <a:pt x="866025" y="793623"/>
                  </a:moveTo>
                  <a:lnTo>
                    <a:pt x="627646" y="267589"/>
                  </a:lnTo>
                  <a:lnTo>
                    <a:pt x="580021" y="284314"/>
                  </a:lnTo>
                  <a:lnTo>
                    <a:pt x="533336" y="302920"/>
                  </a:lnTo>
                  <a:lnTo>
                    <a:pt x="487667" y="323380"/>
                  </a:lnTo>
                  <a:lnTo>
                    <a:pt x="443077" y="345668"/>
                  </a:lnTo>
                  <a:lnTo>
                    <a:pt x="399669" y="369747"/>
                  </a:lnTo>
                  <a:lnTo>
                    <a:pt x="357517" y="395617"/>
                  </a:lnTo>
                  <a:lnTo>
                    <a:pt x="316687" y="423227"/>
                  </a:lnTo>
                  <a:lnTo>
                    <a:pt x="277291" y="452564"/>
                  </a:lnTo>
                  <a:lnTo>
                    <a:pt x="239395" y="483603"/>
                  </a:lnTo>
                  <a:lnTo>
                    <a:pt x="203073" y="516318"/>
                  </a:lnTo>
                  <a:lnTo>
                    <a:pt x="168414" y="550684"/>
                  </a:lnTo>
                  <a:lnTo>
                    <a:pt x="135509" y="586663"/>
                  </a:lnTo>
                  <a:lnTo>
                    <a:pt x="104432" y="624255"/>
                  </a:lnTo>
                  <a:lnTo>
                    <a:pt x="75260" y="663409"/>
                  </a:lnTo>
                  <a:lnTo>
                    <a:pt x="48069" y="704126"/>
                  </a:lnTo>
                  <a:lnTo>
                    <a:pt x="22961" y="746353"/>
                  </a:lnTo>
                  <a:lnTo>
                    <a:pt x="0" y="790067"/>
                  </a:lnTo>
                  <a:lnTo>
                    <a:pt x="592594" y="1015492"/>
                  </a:lnTo>
                  <a:lnTo>
                    <a:pt x="618223" y="970826"/>
                  </a:lnTo>
                  <a:lnTo>
                    <a:pt x="649262" y="930148"/>
                  </a:lnTo>
                  <a:lnTo>
                    <a:pt x="685139" y="893648"/>
                  </a:lnTo>
                  <a:lnTo>
                    <a:pt x="725322" y="861542"/>
                  </a:lnTo>
                  <a:lnTo>
                    <a:pt x="769226" y="834034"/>
                  </a:lnTo>
                  <a:lnTo>
                    <a:pt x="816305" y="811326"/>
                  </a:lnTo>
                  <a:lnTo>
                    <a:pt x="866025" y="793623"/>
                  </a:lnTo>
                  <a:close/>
                </a:path>
                <a:path w="1452879" h="1016000">
                  <a:moveTo>
                    <a:pt x="1452765" y="81026"/>
                  </a:moveTo>
                  <a:lnTo>
                    <a:pt x="1404175" y="64071"/>
                  </a:lnTo>
                  <a:lnTo>
                    <a:pt x="1355394" y="49085"/>
                  </a:lnTo>
                  <a:lnTo>
                    <a:pt x="1306449" y="36093"/>
                  </a:lnTo>
                  <a:lnTo>
                    <a:pt x="1257350" y="25082"/>
                  </a:lnTo>
                  <a:lnTo>
                    <a:pt x="1208125" y="16065"/>
                  </a:lnTo>
                  <a:lnTo>
                    <a:pt x="1158811" y="9042"/>
                  </a:lnTo>
                  <a:lnTo>
                    <a:pt x="1109421" y="4025"/>
                  </a:lnTo>
                  <a:lnTo>
                    <a:pt x="1059992" y="1016"/>
                  </a:lnTo>
                  <a:lnTo>
                    <a:pt x="1010551" y="0"/>
                  </a:lnTo>
                  <a:lnTo>
                    <a:pt x="962215" y="965"/>
                  </a:lnTo>
                  <a:lnTo>
                    <a:pt x="913904" y="3848"/>
                  </a:lnTo>
                  <a:lnTo>
                    <a:pt x="865632" y="8648"/>
                  </a:lnTo>
                  <a:lnTo>
                    <a:pt x="817448" y="15367"/>
                  </a:lnTo>
                  <a:lnTo>
                    <a:pt x="769340" y="24028"/>
                  </a:lnTo>
                  <a:lnTo>
                    <a:pt x="721372" y="34620"/>
                  </a:lnTo>
                  <a:lnTo>
                    <a:pt x="673531" y="47142"/>
                  </a:lnTo>
                  <a:lnTo>
                    <a:pt x="625868" y="61595"/>
                  </a:lnTo>
                  <a:lnTo>
                    <a:pt x="864247" y="587502"/>
                  </a:lnTo>
                  <a:lnTo>
                    <a:pt x="901496" y="577888"/>
                  </a:lnTo>
                  <a:lnTo>
                    <a:pt x="938936" y="570979"/>
                  </a:lnTo>
                  <a:lnTo>
                    <a:pt x="976490" y="566813"/>
                  </a:lnTo>
                  <a:lnTo>
                    <a:pt x="1014107" y="565404"/>
                  </a:lnTo>
                  <a:lnTo>
                    <a:pt x="1060259" y="567499"/>
                  </a:lnTo>
                  <a:lnTo>
                    <a:pt x="1106258" y="573786"/>
                  </a:lnTo>
                  <a:lnTo>
                    <a:pt x="1151991" y="584263"/>
                  </a:lnTo>
                  <a:lnTo>
                    <a:pt x="1197368" y="598944"/>
                  </a:lnTo>
                  <a:lnTo>
                    <a:pt x="1452765" y="81026"/>
                  </a:lnTo>
                  <a:close/>
                </a:path>
              </a:pathLst>
            </a:custGeom>
            <a:solidFill>
              <a:srgbClr val="A4B7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17">
              <a:extLst>
                <a:ext uri="{FF2B5EF4-FFF2-40B4-BE49-F238E27FC236}">
                  <a16:creationId xmlns:a16="http://schemas.microsoft.com/office/drawing/2014/main" id="{92441E0D-7637-C1F5-2A34-52E0016C7755}"/>
                </a:ext>
              </a:extLst>
            </p:cNvPr>
            <p:cNvSpPr/>
            <p:nvPr/>
          </p:nvSpPr>
          <p:spPr>
            <a:xfrm>
              <a:off x="7142480" y="2069972"/>
              <a:ext cx="274955" cy="933450"/>
            </a:xfrm>
            <a:custGeom>
              <a:avLst/>
              <a:gdLst/>
              <a:ahLst/>
              <a:cxnLst/>
              <a:rect l="l" t="t" r="r" b="b"/>
              <a:pathLst>
                <a:path w="274954" h="933450">
                  <a:moveTo>
                    <a:pt x="274700" y="0"/>
                  </a:moveTo>
                  <a:lnTo>
                    <a:pt x="268859" y="2539"/>
                  </a:lnTo>
                  <a:lnTo>
                    <a:pt x="261874" y="4444"/>
                  </a:lnTo>
                  <a:lnTo>
                    <a:pt x="254889" y="6984"/>
                  </a:lnTo>
                  <a:lnTo>
                    <a:pt x="235076" y="14985"/>
                  </a:lnTo>
                  <a:lnTo>
                    <a:pt x="227456" y="17652"/>
                  </a:lnTo>
                  <a:lnTo>
                    <a:pt x="201041" y="29209"/>
                  </a:lnTo>
                  <a:lnTo>
                    <a:pt x="188849" y="35306"/>
                  </a:lnTo>
                  <a:lnTo>
                    <a:pt x="183006" y="38862"/>
                  </a:lnTo>
                  <a:lnTo>
                    <a:pt x="177165" y="41528"/>
                  </a:lnTo>
                  <a:lnTo>
                    <a:pt x="171196" y="45084"/>
                  </a:lnTo>
                  <a:lnTo>
                    <a:pt x="169037" y="46862"/>
                  </a:lnTo>
                  <a:lnTo>
                    <a:pt x="153797" y="55625"/>
                  </a:lnTo>
                  <a:lnTo>
                    <a:pt x="149098" y="59181"/>
                  </a:lnTo>
                  <a:lnTo>
                    <a:pt x="144399" y="61849"/>
                  </a:lnTo>
                  <a:lnTo>
                    <a:pt x="126238" y="74294"/>
                  </a:lnTo>
                  <a:lnTo>
                    <a:pt x="108076" y="89281"/>
                  </a:lnTo>
                  <a:lnTo>
                    <a:pt x="95885" y="99949"/>
                  </a:lnTo>
                  <a:lnTo>
                    <a:pt x="92455" y="102488"/>
                  </a:lnTo>
                  <a:lnTo>
                    <a:pt x="86614" y="108712"/>
                  </a:lnTo>
                  <a:lnTo>
                    <a:pt x="79501" y="115824"/>
                  </a:lnTo>
                  <a:lnTo>
                    <a:pt x="73660" y="121157"/>
                  </a:lnTo>
                  <a:lnTo>
                    <a:pt x="63753" y="131699"/>
                  </a:lnTo>
                  <a:lnTo>
                    <a:pt x="56134" y="140462"/>
                  </a:lnTo>
                  <a:lnTo>
                    <a:pt x="49656" y="148462"/>
                  </a:lnTo>
                  <a:lnTo>
                    <a:pt x="46736" y="151129"/>
                  </a:lnTo>
                  <a:lnTo>
                    <a:pt x="44450" y="154685"/>
                  </a:lnTo>
                  <a:lnTo>
                    <a:pt x="42037" y="157225"/>
                  </a:lnTo>
                  <a:lnTo>
                    <a:pt x="35051" y="167004"/>
                  </a:lnTo>
                  <a:lnTo>
                    <a:pt x="31623" y="171450"/>
                  </a:lnTo>
                  <a:lnTo>
                    <a:pt x="28701" y="176783"/>
                  </a:lnTo>
                  <a:lnTo>
                    <a:pt x="25146" y="181101"/>
                  </a:lnTo>
                  <a:lnTo>
                    <a:pt x="23495" y="184657"/>
                  </a:lnTo>
                  <a:lnTo>
                    <a:pt x="19939" y="189991"/>
                  </a:lnTo>
                  <a:lnTo>
                    <a:pt x="15875" y="195325"/>
                  </a:lnTo>
                  <a:lnTo>
                    <a:pt x="12953" y="201549"/>
                  </a:lnTo>
                  <a:lnTo>
                    <a:pt x="10541" y="205866"/>
                  </a:lnTo>
                  <a:lnTo>
                    <a:pt x="8254" y="209422"/>
                  </a:lnTo>
                  <a:lnTo>
                    <a:pt x="5842" y="213868"/>
                  </a:lnTo>
                  <a:lnTo>
                    <a:pt x="2413" y="220979"/>
                  </a:lnTo>
                  <a:lnTo>
                    <a:pt x="0" y="933450"/>
                  </a:lnTo>
                  <a:lnTo>
                    <a:pt x="3555" y="927353"/>
                  </a:lnTo>
                  <a:lnTo>
                    <a:pt x="10541" y="913891"/>
                  </a:lnTo>
                  <a:lnTo>
                    <a:pt x="10541" y="913129"/>
                  </a:lnTo>
                  <a:lnTo>
                    <a:pt x="17018" y="901572"/>
                  </a:lnTo>
                  <a:lnTo>
                    <a:pt x="22733" y="892682"/>
                  </a:lnTo>
                  <a:lnTo>
                    <a:pt x="26416" y="887476"/>
                  </a:lnTo>
                  <a:lnTo>
                    <a:pt x="33274" y="876807"/>
                  </a:lnTo>
                  <a:lnTo>
                    <a:pt x="35687" y="874268"/>
                  </a:lnTo>
                  <a:lnTo>
                    <a:pt x="37465" y="871601"/>
                  </a:lnTo>
                  <a:lnTo>
                    <a:pt x="39750" y="868933"/>
                  </a:lnTo>
                  <a:lnTo>
                    <a:pt x="41528" y="866266"/>
                  </a:lnTo>
                  <a:lnTo>
                    <a:pt x="58420" y="845946"/>
                  </a:lnTo>
                  <a:lnTo>
                    <a:pt x="61341" y="843279"/>
                  </a:lnTo>
                  <a:lnTo>
                    <a:pt x="63753" y="839724"/>
                  </a:lnTo>
                  <a:lnTo>
                    <a:pt x="66040" y="837945"/>
                  </a:lnTo>
                  <a:lnTo>
                    <a:pt x="68452" y="835278"/>
                  </a:lnTo>
                  <a:lnTo>
                    <a:pt x="70739" y="833501"/>
                  </a:lnTo>
                  <a:lnTo>
                    <a:pt x="73660" y="829944"/>
                  </a:lnTo>
                  <a:lnTo>
                    <a:pt x="76580" y="827404"/>
                  </a:lnTo>
                  <a:lnTo>
                    <a:pt x="83693" y="820293"/>
                  </a:lnTo>
                  <a:lnTo>
                    <a:pt x="92964" y="811529"/>
                  </a:lnTo>
                  <a:lnTo>
                    <a:pt x="109347" y="797306"/>
                  </a:lnTo>
                  <a:lnTo>
                    <a:pt x="118110" y="790320"/>
                  </a:lnTo>
                  <a:lnTo>
                    <a:pt x="123317" y="785876"/>
                  </a:lnTo>
                  <a:lnTo>
                    <a:pt x="129159" y="782319"/>
                  </a:lnTo>
                  <a:lnTo>
                    <a:pt x="132715" y="779652"/>
                  </a:lnTo>
                  <a:lnTo>
                    <a:pt x="136778" y="776985"/>
                  </a:lnTo>
                  <a:lnTo>
                    <a:pt x="141477" y="773429"/>
                  </a:lnTo>
                  <a:lnTo>
                    <a:pt x="146176" y="770763"/>
                  </a:lnTo>
                  <a:lnTo>
                    <a:pt x="150875" y="767207"/>
                  </a:lnTo>
                  <a:lnTo>
                    <a:pt x="156083" y="764539"/>
                  </a:lnTo>
                  <a:lnTo>
                    <a:pt x="160781" y="761110"/>
                  </a:lnTo>
                  <a:lnTo>
                    <a:pt x="166116" y="758444"/>
                  </a:lnTo>
                  <a:lnTo>
                    <a:pt x="168275" y="756665"/>
                  </a:lnTo>
                  <a:lnTo>
                    <a:pt x="174117" y="753109"/>
                  </a:lnTo>
                  <a:lnTo>
                    <a:pt x="180086" y="750443"/>
                  </a:lnTo>
                  <a:lnTo>
                    <a:pt x="185927" y="746887"/>
                  </a:lnTo>
                  <a:lnTo>
                    <a:pt x="203962" y="738124"/>
                  </a:lnTo>
                  <a:lnTo>
                    <a:pt x="224536" y="729233"/>
                  </a:lnTo>
                  <a:lnTo>
                    <a:pt x="245491" y="721232"/>
                  </a:lnTo>
                  <a:lnTo>
                    <a:pt x="251968" y="718565"/>
                  </a:lnTo>
                  <a:lnTo>
                    <a:pt x="258952" y="716026"/>
                  </a:lnTo>
                  <a:lnTo>
                    <a:pt x="265938" y="714120"/>
                  </a:lnTo>
                  <a:lnTo>
                    <a:pt x="272923" y="711581"/>
                  </a:lnTo>
                  <a:lnTo>
                    <a:pt x="274700" y="0"/>
                  </a:lnTo>
                  <a:close/>
                </a:path>
              </a:pathLst>
            </a:custGeom>
            <a:solidFill>
              <a:srgbClr val="374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18">
              <a:extLst>
                <a:ext uri="{FF2B5EF4-FFF2-40B4-BE49-F238E27FC236}">
                  <a16:creationId xmlns:a16="http://schemas.microsoft.com/office/drawing/2014/main" id="{2B068CE5-7A4E-7F34-EDCF-4D1D6CC29678}"/>
                </a:ext>
              </a:extLst>
            </p:cNvPr>
            <p:cNvSpPr/>
            <p:nvPr/>
          </p:nvSpPr>
          <p:spPr>
            <a:xfrm>
              <a:off x="6549898" y="2066416"/>
              <a:ext cx="594995" cy="937894"/>
            </a:xfrm>
            <a:custGeom>
              <a:avLst/>
              <a:gdLst/>
              <a:ahLst/>
              <a:cxnLst/>
              <a:rect l="l" t="t" r="r" b="b"/>
              <a:pathLst>
                <a:path w="594995" h="937894">
                  <a:moveTo>
                    <a:pt x="2412" y="0"/>
                  </a:moveTo>
                  <a:lnTo>
                    <a:pt x="0" y="712469"/>
                  </a:lnTo>
                  <a:lnTo>
                    <a:pt x="592581" y="937894"/>
                  </a:lnTo>
                  <a:lnTo>
                    <a:pt x="594995" y="225425"/>
                  </a:lnTo>
                  <a:lnTo>
                    <a:pt x="2412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19">
              <a:extLst>
                <a:ext uri="{FF2B5EF4-FFF2-40B4-BE49-F238E27FC236}">
                  <a16:creationId xmlns:a16="http://schemas.microsoft.com/office/drawing/2014/main" id="{A404F66C-B638-9356-7B18-0FA050C88926}"/>
                </a:ext>
              </a:extLst>
            </p:cNvPr>
            <p:cNvSpPr/>
            <p:nvPr/>
          </p:nvSpPr>
          <p:spPr>
            <a:xfrm>
              <a:off x="7747889" y="1667002"/>
              <a:ext cx="256540" cy="1363980"/>
            </a:xfrm>
            <a:custGeom>
              <a:avLst/>
              <a:gdLst/>
              <a:ahLst/>
              <a:cxnLst/>
              <a:rect l="l" t="t" r="r" b="b"/>
              <a:pathLst>
                <a:path w="256540" h="1363980">
                  <a:moveTo>
                    <a:pt x="2412" y="0"/>
                  </a:moveTo>
                  <a:lnTo>
                    <a:pt x="0" y="1123442"/>
                  </a:lnTo>
                  <a:lnTo>
                    <a:pt x="7619" y="1126109"/>
                  </a:lnTo>
                  <a:lnTo>
                    <a:pt x="14096" y="1128776"/>
                  </a:lnTo>
                  <a:lnTo>
                    <a:pt x="20446" y="1132332"/>
                  </a:lnTo>
                  <a:lnTo>
                    <a:pt x="33337" y="1137777"/>
                  </a:lnTo>
                  <a:lnTo>
                    <a:pt x="46227" y="1143889"/>
                  </a:lnTo>
                  <a:lnTo>
                    <a:pt x="64071" y="1153144"/>
                  </a:lnTo>
                  <a:lnTo>
                    <a:pt x="75437" y="1159637"/>
                  </a:lnTo>
                  <a:lnTo>
                    <a:pt x="76580" y="1160653"/>
                  </a:lnTo>
                  <a:lnTo>
                    <a:pt x="87121" y="1166749"/>
                  </a:lnTo>
                  <a:lnTo>
                    <a:pt x="94106" y="1171194"/>
                  </a:lnTo>
                  <a:lnTo>
                    <a:pt x="101091" y="1176401"/>
                  </a:lnTo>
                  <a:lnTo>
                    <a:pt x="104647" y="1178306"/>
                  </a:lnTo>
                  <a:lnTo>
                    <a:pt x="111125" y="1183513"/>
                  </a:lnTo>
                  <a:lnTo>
                    <a:pt x="115188" y="1186180"/>
                  </a:lnTo>
                  <a:lnTo>
                    <a:pt x="122174" y="1191514"/>
                  </a:lnTo>
                  <a:lnTo>
                    <a:pt x="127380" y="1195959"/>
                  </a:lnTo>
                  <a:lnTo>
                    <a:pt x="132714" y="1199515"/>
                  </a:lnTo>
                  <a:lnTo>
                    <a:pt x="137921" y="1203833"/>
                  </a:lnTo>
                  <a:lnTo>
                    <a:pt x="178208" y="1243212"/>
                  </a:lnTo>
                  <a:lnTo>
                    <a:pt x="208724" y="1281160"/>
                  </a:lnTo>
                  <a:lnTo>
                    <a:pt x="234096" y="1321560"/>
                  </a:lnTo>
                  <a:lnTo>
                    <a:pt x="254253" y="1363853"/>
                  </a:lnTo>
                  <a:lnTo>
                    <a:pt x="256031" y="240284"/>
                  </a:lnTo>
                  <a:lnTo>
                    <a:pt x="235892" y="197461"/>
                  </a:lnTo>
                  <a:lnTo>
                    <a:pt x="210550" y="156781"/>
                  </a:lnTo>
                  <a:lnTo>
                    <a:pt x="180040" y="118768"/>
                  </a:lnTo>
                  <a:lnTo>
                    <a:pt x="144399" y="83947"/>
                  </a:lnTo>
                  <a:lnTo>
                    <a:pt x="139064" y="79501"/>
                  </a:lnTo>
                  <a:lnTo>
                    <a:pt x="134492" y="75057"/>
                  </a:lnTo>
                  <a:lnTo>
                    <a:pt x="123951" y="67945"/>
                  </a:lnTo>
                  <a:lnTo>
                    <a:pt x="120395" y="64388"/>
                  </a:lnTo>
                  <a:lnTo>
                    <a:pt x="116966" y="61849"/>
                  </a:lnTo>
                  <a:lnTo>
                    <a:pt x="95884" y="47625"/>
                  </a:lnTo>
                  <a:lnTo>
                    <a:pt x="88900" y="43180"/>
                  </a:lnTo>
                  <a:lnTo>
                    <a:pt x="78358" y="36068"/>
                  </a:lnTo>
                  <a:lnTo>
                    <a:pt x="77215" y="36068"/>
                  </a:lnTo>
                  <a:lnTo>
                    <a:pt x="54355" y="22860"/>
                  </a:lnTo>
                  <a:lnTo>
                    <a:pt x="48005" y="20320"/>
                  </a:lnTo>
                  <a:lnTo>
                    <a:pt x="35385" y="13763"/>
                  </a:lnTo>
                  <a:lnTo>
                    <a:pt x="22859" y="7874"/>
                  </a:lnTo>
                  <a:lnTo>
                    <a:pt x="15747" y="5207"/>
                  </a:lnTo>
                  <a:lnTo>
                    <a:pt x="9397" y="2539"/>
                  </a:lnTo>
                  <a:lnTo>
                    <a:pt x="2412" y="0"/>
                  </a:lnTo>
                  <a:close/>
                </a:path>
              </a:pathLst>
            </a:custGeom>
            <a:solidFill>
              <a:srgbClr val="374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20">
              <a:extLst>
                <a:ext uri="{FF2B5EF4-FFF2-40B4-BE49-F238E27FC236}">
                  <a16:creationId xmlns:a16="http://schemas.microsoft.com/office/drawing/2014/main" id="{A430D76A-3B0E-B215-8DCB-1063D5EF0D38}"/>
                </a:ext>
              </a:extLst>
            </p:cNvPr>
            <p:cNvSpPr/>
            <p:nvPr/>
          </p:nvSpPr>
          <p:spPr>
            <a:xfrm>
              <a:off x="7749667" y="1148080"/>
              <a:ext cx="853440" cy="758825"/>
            </a:xfrm>
            <a:custGeom>
              <a:avLst/>
              <a:gdLst/>
              <a:ahLst/>
              <a:cxnLst/>
              <a:rect l="l" t="t" r="r" b="b"/>
              <a:pathLst>
                <a:path w="853440" h="758825">
                  <a:moveTo>
                    <a:pt x="254888" y="0"/>
                  </a:moveTo>
                  <a:lnTo>
                    <a:pt x="0" y="517906"/>
                  </a:lnTo>
                  <a:lnTo>
                    <a:pt x="36911" y="533717"/>
                  </a:lnTo>
                  <a:lnTo>
                    <a:pt x="73072" y="553148"/>
                  </a:lnTo>
                  <a:lnTo>
                    <a:pt x="108352" y="576199"/>
                  </a:lnTo>
                  <a:lnTo>
                    <a:pt x="142621" y="602869"/>
                  </a:lnTo>
                  <a:lnTo>
                    <a:pt x="177932" y="637676"/>
                  </a:lnTo>
                  <a:lnTo>
                    <a:pt x="208422" y="675592"/>
                  </a:lnTo>
                  <a:lnTo>
                    <a:pt x="233793" y="716008"/>
                  </a:lnTo>
                  <a:lnTo>
                    <a:pt x="253746" y="758317"/>
                  </a:lnTo>
                  <a:lnTo>
                    <a:pt x="853185" y="551561"/>
                  </a:lnTo>
                  <a:lnTo>
                    <a:pt x="833526" y="508662"/>
                  </a:lnTo>
                  <a:lnTo>
                    <a:pt x="811576" y="466631"/>
                  </a:lnTo>
                  <a:lnTo>
                    <a:pt x="787376" y="425548"/>
                  </a:lnTo>
                  <a:lnTo>
                    <a:pt x="760969" y="385490"/>
                  </a:lnTo>
                  <a:lnTo>
                    <a:pt x="732395" y="346537"/>
                  </a:lnTo>
                  <a:lnTo>
                    <a:pt x="701698" y="308765"/>
                  </a:lnTo>
                  <a:lnTo>
                    <a:pt x="668919" y="272254"/>
                  </a:lnTo>
                  <a:lnTo>
                    <a:pt x="634099" y="237081"/>
                  </a:lnTo>
                  <a:lnTo>
                    <a:pt x="597280" y="203327"/>
                  </a:lnTo>
                  <a:lnTo>
                    <a:pt x="560493" y="172519"/>
                  </a:lnTo>
                  <a:lnTo>
                    <a:pt x="521958" y="143107"/>
                  </a:lnTo>
                  <a:lnTo>
                    <a:pt x="481690" y="115161"/>
                  </a:lnTo>
                  <a:lnTo>
                    <a:pt x="439705" y="88757"/>
                  </a:lnTo>
                  <a:lnTo>
                    <a:pt x="396018" y="63965"/>
                  </a:lnTo>
                  <a:lnTo>
                    <a:pt x="350643" y="40860"/>
                  </a:lnTo>
                  <a:lnTo>
                    <a:pt x="303594" y="19514"/>
                  </a:lnTo>
                  <a:lnTo>
                    <a:pt x="254888" y="0"/>
                  </a:lnTo>
                  <a:close/>
                </a:path>
              </a:pathLst>
            </a:custGeom>
            <a:solidFill>
              <a:srgbClr val="A4B7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21">
              <a:extLst>
                <a:ext uri="{FF2B5EF4-FFF2-40B4-BE49-F238E27FC236}">
                  <a16:creationId xmlns:a16="http://schemas.microsoft.com/office/drawing/2014/main" id="{40C293FE-3C70-432D-BF99-274CFDBCF96B}"/>
                </a:ext>
              </a:extLst>
            </p:cNvPr>
            <p:cNvSpPr/>
            <p:nvPr/>
          </p:nvSpPr>
          <p:spPr>
            <a:xfrm>
              <a:off x="8001635" y="1699641"/>
              <a:ext cx="601345" cy="1330325"/>
            </a:xfrm>
            <a:custGeom>
              <a:avLst/>
              <a:gdLst/>
              <a:ahLst/>
              <a:cxnLst/>
              <a:rect l="l" t="t" r="r" b="b"/>
              <a:pathLst>
                <a:path w="601345" h="1330325">
                  <a:moveTo>
                    <a:pt x="601218" y="0"/>
                  </a:moveTo>
                  <a:lnTo>
                    <a:pt x="1778" y="206756"/>
                  </a:lnTo>
                  <a:lnTo>
                    <a:pt x="0" y="1330325"/>
                  </a:lnTo>
                  <a:lnTo>
                    <a:pt x="599567" y="1123569"/>
                  </a:lnTo>
                  <a:lnTo>
                    <a:pt x="601218" y="0"/>
                  </a:lnTo>
                  <a:close/>
                </a:path>
              </a:pathLst>
            </a:custGeom>
            <a:solidFill>
              <a:srgbClr val="435D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22">
              <a:extLst>
                <a:ext uri="{FF2B5EF4-FFF2-40B4-BE49-F238E27FC236}">
                  <a16:creationId xmlns:a16="http://schemas.microsoft.com/office/drawing/2014/main" id="{AE686B29-7E75-6065-4962-96B4EB6173EB}"/>
                </a:ext>
              </a:extLst>
            </p:cNvPr>
            <p:cNvSpPr/>
            <p:nvPr/>
          </p:nvSpPr>
          <p:spPr>
            <a:xfrm>
              <a:off x="6545580" y="2512059"/>
              <a:ext cx="601980" cy="1041400"/>
            </a:xfrm>
            <a:custGeom>
              <a:avLst/>
              <a:gdLst/>
              <a:ahLst/>
              <a:cxnLst/>
              <a:rect l="l" t="t" r="r" b="b"/>
              <a:pathLst>
                <a:path w="601979" h="1041400">
                  <a:moveTo>
                    <a:pt x="601853" y="327152"/>
                  </a:moveTo>
                  <a:lnTo>
                    <a:pt x="596811" y="328904"/>
                  </a:lnTo>
                  <a:lnTo>
                    <a:pt x="598297" y="0"/>
                  </a:lnTo>
                  <a:lnTo>
                    <a:pt x="594868" y="6223"/>
                  </a:lnTo>
                  <a:lnTo>
                    <a:pt x="592582" y="12446"/>
                  </a:lnTo>
                  <a:lnTo>
                    <a:pt x="589661" y="18669"/>
                  </a:lnTo>
                  <a:lnTo>
                    <a:pt x="587248" y="24765"/>
                  </a:lnTo>
                  <a:lnTo>
                    <a:pt x="585470" y="28321"/>
                  </a:lnTo>
                  <a:lnTo>
                    <a:pt x="583184" y="35433"/>
                  </a:lnTo>
                  <a:lnTo>
                    <a:pt x="582549" y="37211"/>
                  </a:lnTo>
                  <a:lnTo>
                    <a:pt x="580263" y="44323"/>
                  </a:lnTo>
                  <a:lnTo>
                    <a:pt x="579120" y="46863"/>
                  </a:lnTo>
                  <a:lnTo>
                    <a:pt x="577977" y="50419"/>
                  </a:lnTo>
                  <a:lnTo>
                    <a:pt x="576707" y="53975"/>
                  </a:lnTo>
                  <a:lnTo>
                    <a:pt x="575564" y="57531"/>
                  </a:lnTo>
                  <a:lnTo>
                    <a:pt x="574421" y="60198"/>
                  </a:lnTo>
                  <a:lnTo>
                    <a:pt x="573786" y="63627"/>
                  </a:lnTo>
                  <a:lnTo>
                    <a:pt x="572643" y="67183"/>
                  </a:lnTo>
                  <a:lnTo>
                    <a:pt x="572008" y="70739"/>
                  </a:lnTo>
                  <a:lnTo>
                    <a:pt x="571500" y="72644"/>
                  </a:lnTo>
                  <a:lnTo>
                    <a:pt x="570865" y="74295"/>
                  </a:lnTo>
                  <a:lnTo>
                    <a:pt x="570865" y="75184"/>
                  </a:lnTo>
                  <a:lnTo>
                    <a:pt x="570357" y="76073"/>
                  </a:lnTo>
                  <a:lnTo>
                    <a:pt x="570357" y="76962"/>
                  </a:lnTo>
                  <a:lnTo>
                    <a:pt x="569722" y="80391"/>
                  </a:lnTo>
                  <a:lnTo>
                    <a:pt x="569087" y="83185"/>
                  </a:lnTo>
                  <a:lnTo>
                    <a:pt x="567944" y="86741"/>
                  </a:lnTo>
                  <a:lnTo>
                    <a:pt x="567436" y="89408"/>
                  </a:lnTo>
                  <a:lnTo>
                    <a:pt x="566801" y="93853"/>
                  </a:lnTo>
                  <a:lnTo>
                    <a:pt x="566166" y="96393"/>
                  </a:lnTo>
                  <a:lnTo>
                    <a:pt x="565658" y="99949"/>
                  </a:lnTo>
                  <a:lnTo>
                    <a:pt x="565023" y="102616"/>
                  </a:lnTo>
                  <a:lnTo>
                    <a:pt x="564515" y="106172"/>
                  </a:lnTo>
                  <a:lnTo>
                    <a:pt x="563880" y="109601"/>
                  </a:lnTo>
                  <a:lnTo>
                    <a:pt x="563880" y="111379"/>
                  </a:lnTo>
                  <a:lnTo>
                    <a:pt x="563245" y="114173"/>
                  </a:lnTo>
                  <a:lnTo>
                    <a:pt x="563245" y="119380"/>
                  </a:lnTo>
                  <a:lnTo>
                    <a:pt x="562737" y="122936"/>
                  </a:lnTo>
                  <a:lnTo>
                    <a:pt x="562102" y="126492"/>
                  </a:lnTo>
                  <a:lnTo>
                    <a:pt x="562102" y="129032"/>
                  </a:lnTo>
                  <a:lnTo>
                    <a:pt x="561594" y="132588"/>
                  </a:lnTo>
                  <a:lnTo>
                    <a:pt x="560959" y="136144"/>
                  </a:lnTo>
                  <a:lnTo>
                    <a:pt x="560959" y="159131"/>
                  </a:lnTo>
                  <a:lnTo>
                    <a:pt x="560095" y="341617"/>
                  </a:lnTo>
                  <a:lnTo>
                    <a:pt x="2159" y="534924"/>
                  </a:lnTo>
                  <a:lnTo>
                    <a:pt x="0" y="1041273"/>
                  </a:lnTo>
                  <a:lnTo>
                    <a:pt x="599440" y="833628"/>
                  </a:lnTo>
                  <a:lnTo>
                    <a:pt x="601853" y="327152"/>
                  </a:lnTo>
                  <a:close/>
                </a:path>
              </a:pathLst>
            </a:custGeom>
            <a:solidFill>
              <a:srgbClr val="374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23">
              <a:extLst>
                <a:ext uri="{FF2B5EF4-FFF2-40B4-BE49-F238E27FC236}">
                  <a16:creationId xmlns:a16="http://schemas.microsoft.com/office/drawing/2014/main" id="{3BB5A116-754E-6609-4ED5-2394184714ED}"/>
                </a:ext>
              </a:extLst>
            </p:cNvPr>
            <p:cNvSpPr/>
            <p:nvPr/>
          </p:nvSpPr>
          <p:spPr>
            <a:xfrm>
              <a:off x="6458458" y="2668651"/>
              <a:ext cx="89535" cy="885190"/>
            </a:xfrm>
            <a:custGeom>
              <a:avLst/>
              <a:gdLst/>
              <a:ahLst/>
              <a:cxnLst/>
              <a:rect l="l" t="t" r="r" b="b"/>
              <a:pathLst>
                <a:path w="89534" h="885189">
                  <a:moveTo>
                    <a:pt x="2286" y="0"/>
                  </a:moveTo>
                  <a:lnTo>
                    <a:pt x="0" y="506349"/>
                  </a:lnTo>
                  <a:lnTo>
                    <a:pt x="1389" y="555307"/>
                  </a:lnTo>
                  <a:lnTo>
                    <a:pt x="5540" y="603932"/>
                  </a:lnTo>
                  <a:lnTo>
                    <a:pt x="12430" y="652152"/>
                  </a:lnTo>
                  <a:lnTo>
                    <a:pt x="22034" y="699897"/>
                  </a:lnTo>
                  <a:lnTo>
                    <a:pt x="34329" y="747093"/>
                  </a:lnTo>
                  <a:lnTo>
                    <a:pt x="49291" y="793670"/>
                  </a:lnTo>
                  <a:lnTo>
                    <a:pt x="66897" y="839557"/>
                  </a:lnTo>
                  <a:lnTo>
                    <a:pt x="87121" y="884682"/>
                  </a:lnTo>
                  <a:lnTo>
                    <a:pt x="89281" y="378332"/>
                  </a:lnTo>
                  <a:lnTo>
                    <a:pt x="67434" y="329225"/>
                  </a:lnTo>
                  <a:lnTo>
                    <a:pt x="48659" y="279348"/>
                  </a:lnTo>
                  <a:lnTo>
                    <a:pt x="33004" y="228758"/>
                  </a:lnTo>
                  <a:lnTo>
                    <a:pt x="20512" y="177513"/>
                  </a:lnTo>
                  <a:lnTo>
                    <a:pt x="11231" y="125667"/>
                  </a:lnTo>
                  <a:lnTo>
                    <a:pt x="5206" y="73279"/>
                  </a:lnTo>
                  <a:lnTo>
                    <a:pt x="2492" y="17986"/>
                  </a:lnTo>
                  <a:lnTo>
                    <a:pt x="2286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24">
              <a:extLst>
                <a:ext uri="{FF2B5EF4-FFF2-40B4-BE49-F238E27FC236}">
                  <a16:creationId xmlns:a16="http://schemas.microsoft.com/office/drawing/2014/main" id="{4F7E943F-1439-C192-ED79-7E13C3F7B507}"/>
                </a:ext>
              </a:extLst>
            </p:cNvPr>
            <p:cNvSpPr/>
            <p:nvPr/>
          </p:nvSpPr>
          <p:spPr>
            <a:xfrm>
              <a:off x="6460791" y="2287524"/>
              <a:ext cx="687070" cy="759460"/>
            </a:xfrm>
            <a:custGeom>
              <a:avLst/>
              <a:gdLst/>
              <a:ahLst/>
              <a:cxnLst/>
              <a:rect l="l" t="t" r="r" b="b"/>
              <a:pathLst>
                <a:path w="687070" h="759460">
                  <a:moveTo>
                    <a:pt x="90503" y="0"/>
                  </a:moveTo>
                  <a:lnTo>
                    <a:pt x="68818" y="47342"/>
                  </a:lnTo>
                  <a:lnTo>
                    <a:pt x="50173" y="95109"/>
                  </a:lnTo>
                  <a:lnTo>
                    <a:pt x="34530" y="143213"/>
                  </a:lnTo>
                  <a:lnTo>
                    <a:pt x="21849" y="191567"/>
                  </a:lnTo>
                  <a:lnTo>
                    <a:pt x="12094" y="240083"/>
                  </a:lnTo>
                  <a:lnTo>
                    <a:pt x="5227" y="288674"/>
                  </a:lnTo>
                  <a:lnTo>
                    <a:pt x="1208" y="337252"/>
                  </a:lnTo>
                  <a:lnTo>
                    <a:pt x="0" y="385730"/>
                  </a:lnTo>
                  <a:lnTo>
                    <a:pt x="1564" y="434021"/>
                  </a:lnTo>
                  <a:lnTo>
                    <a:pt x="5863" y="482036"/>
                  </a:lnTo>
                  <a:lnTo>
                    <a:pt x="12859" y="529690"/>
                  </a:lnTo>
                  <a:lnTo>
                    <a:pt x="22512" y="576893"/>
                  </a:lnTo>
                  <a:lnTo>
                    <a:pt x="34786" y="623559"/>
                  </a:lnTo>
                  <a:lnTo>
                    <a:pt x="49642" y="669601"/>
                  </a:lnTo>
                  <a:lnTo>
                    <a:pt x="67042" y="714930"/>
                  </a:lnTo>
                  <a:lnTo>
                    <a:pt x="86947" y="759459"/>
                  </a:lnTo>
                  <a:lnTo>
                    <a:pt x="686641" y="552576"/>
                  </a:lnTo>
                  <a:lnTo>
                    <a:pt x="667230" y="508409"/>
                  </a:lnTo>
                  <a:lnTo>
                    <a:pt x="653770" y="462637"/>
                  </a:lnTo>
                  <a:lnTo>
                    <a:pt x="646476" y="415710"/>
                  </a:lnTo>
                  <a:lnTo>
                    <a:pt x="645560" y="368076"/>
                  </a:lnTo>
                  <a:lnTo>
                    <a:pt x="651235" y="320185"/>
                  </a:lnTo>
                  <a:lnTo>
                    <a:pt x="663714" y="272485"/>
                  </a:lnTo>
                  <a:lnTo>
                    <a:pt x="683212" y="225425"/>
                  </a:lnTo>
                  <a:lnTo>
                    <a:pt x="90503" y="0"/>
                  </a:lnTo>
                  <a:close/>
                </a:path>
              </a:pathLst>
            </a:custGeom>
            <a:solidFill>
              <a:srgbClr val="A4B7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25">
              <a:extLst>
                <a:ext uri="{FF2B5EF4-FFF2-40B4-BE49-F238E27FC236}">
                  <a16:creationId xmlns:a16="http://schemas.microsoft.com/office/drawing/2014/main" id="{99EA0F4F-4AA7-0A54-9278-5D3A2D752E36}"/>
                </a:ext>
              </a:extLst>
            </p:cNvPr>
            <p:cNvSpPr/>
            <p:nvPr/>
          </p:nvSpPr>
          <p:spPr>
            <a:xfrm>
              <a:off x="6543167" y="3249294"/>
              <a:ext cx="583565" cy="817244"/>
            </a:xfrm>
            <a:custGeom>
              <a:avLst/>
              <a:gdLst/>
              <a:ahLst/>
              <a:cxnLst/>
              <a:rect l="l" t="t" r="r" b="b"/>
              <a:pathLst>
                <a:path w="583565" h="817245">
                  <a:moveTo>
                    <a:pt x="2412" y="0"/>
                  </a:moveTo>
                  <a:lnTo>
                    <a:pt x="0" y="300482"/>
                  </a:lnTo>
                  <a:lnTo>
                    <a:pt x="21840" y="343489"/>
                  </a:lnTo>
                  <a:lnTo>
                    <a:pt x="46089" y="385577"/>
                  </a:lnTo>
                  <a:lnTo>
                    <a:pt x="72701" y="426651"/>
                  </a:lnTo>
                  <a:lnTo>
                    <a:pt x="101631" y="466613"/>
                  </a:lnTo>
                  <a:lnTo>
                    <a:pt x="132836" y="505367"/>
                  </a:lnTo>
                  <a:lnTo>
                    <a:pt x="166270" y="542815"/>
                  </a:lnTo>
                  <a:lnTo>
                    <a:pt x="201889" y="578862"/>
                  </a:lnTo>
                  <a:lnTo>
                    <a:pt x="239649" y="613410"/>
                  </a:lnTo>
                  <a:lnTo>
                    <a:pt x="284099" y="650557"/>
                  </a:lnTo>
                  <a:lnTo>
                    <a:pt x="334899" y="687692"/>
                  </a:lnTo>
                  <a:lnTo>
                    <a:pt x="344297" y="694804"/>
                  </a:lnTo>
                  <a:lnTo>
                    <a:pt x="386333" y="721283"/>
                  </a:lnTo>
                  <a:lnTo>
                    <a:pt x="398017" y="728383"/>
                  </a:lnTo>
                  <a:lnTo>
                    <a:pt x="398652" y="728383"/>
                  </a:lnTo>
                  <a:lnTo>
                    <a:pt x="400938" y="730110"/>
                  </a:lnTo>
                  <a:lnTo>
                    <a:pt x="420084" y="740861"/>
                  </a:lnTo>
                  <a:lnTo>
                    <a:pt x="426592" y="744321"/>
                  </a:lnTo>
                  <a:lnTo>
                    <a:pt x="448627" y="756973"/>
                  </a:lnTo>
                  <a:lnTo>
                    <a:pt x="456001" y="761005"/>
                  </a:lnTo>
                  <a:lnTo>
                    <a:pt x="463423" y="764667"/>
                  </a:lnTo>
                  <a:lnTo>
                    <a:pt x="464692" y="765530"/>
                  </a:lnTo>
                  <a:lnTo>
                    <a:pt x="479282" y="772248"/>
                  </a:lnTo>
                  <a:lnTo>
                    <a:pt x="493775" y="779614"/>
                  </a:lnTo>
                  <a:lnTo>
                    <a:pt x="501396" y="783170"/>
                  </a:lnTo>
                  <a:lnTo>
                    <a:pt x="532383" y="796404"/>
                  </a:lnTo>
                  <a:lnTo>
                    <a:pt x="538860" y="799960"/>
                  </a:lnTo>
                  <a:lnTo>
                    <a:pt x="552196" y="805230"/>
                  </a:lnTo>
                  <a:lnTo>
                    <a:pt x="562502" y="809586"/>
                  </a:lnTo>
                  <a:lnTo>
                    <a:pt x="580898" y="816749"/>
                  </a:lnTo>
                  <a:lnTo>
                    <a:pt x="583310" y="516255"/>
                  </a:lnTo>
                  <a:lnTo>
                    <a:pt x="535304" y="496697"/>
                  </a:lnTo>
                  <a:lnTo>
                    <a:pt x="489420" y="475644"/>
                  </a:lnTo>
                  <a:lnTo>
                    <a:pt x="467613" y="464947"/>
                  </a:lnTo>
                  <a:lnTo>
                    <a:pt x="466343" y="464058"/>
                  </a:lnTo>
                  <a:lnTo>
                    <a:pt x="444269" y="452110"/>
                  </a:lnTo>
                  <a:lnTo>
                    <a:pt x="437133" y="448056"/>
                  </a:lnTo>
                  <a:lnTo>
                    <a:pt x="429513" y="444627"/>
                  </a:lnTo>
                  <a:lnTo>
                    <a:pt x="400303" y="427863"/>
                  </a:lnTo>
                  <a:lnTo>
                    <a:pt x="347217" y="394335"/>
                  </a:lnTo>
                  <a:lnTo>
                    <a:pt x="337819" y="387223"/>
                  </a:lnTo>
                  <a:lnTo>
                    <a:pt x="326643" y="380111"/>
                  </a:lnTo>
                  <a:lnTo>
                    <a:pt x="317880" y="372999"/>
                  </a:lnTo>
                  <a:lnTo>
                    <a:pt x="298068" y="358902"/>
                  </a:lnTo>
                  <a:lnTo>
                    <a:pt x="271144" y="336804"/>
                  </a:lnTo>
                  <a:lnTo>
                    <a:pt x="204809" y="278343"/>
                  </a:lnTo>
                  <a:lnTo>
                    <a:pt x="169183" y="242280"/>
                  </a:lnTo>
                  <a:lnTo>
                    <a:pt x="135730" y="204829"/>
                  </a:lnTo>
                  <a:lnTo>
                    <a:pt x="104489" y="166084"/>
                  </a:lnTo>
                  <a:lnTo>
                    <a:pt x="75498" y="126136"/>
                  </a:lnTo>
                  <a:lnTo>
                    <a:pt x="48795" y="85078"/>
                  </a:lnTo>
                  <a:lnTo>
                    <a:pt x="24421" y="43001"/>
                  </a:lnTo>
                  <a:lnTo>
                    <a:pt x="2412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26">
              <a:extLst>
                <a:ext uri="{FF2B5EF4-FFF2-40B4-BE49-F238E27FC236}">
                  <a16:creationId xmlns:a16="http://schemas.microsoft.com/office/drawing/2014/main" id="{1506D853-CEB1-AFEB-898E-3BD745E01889}"/>
                </a:ext>
              </a:extLst>
            </p:cNvPr>
            <p:cNvSpPr/>
            <p:nvPr/>
          </p:nvSpPr>
          <p:spPr>
            <a:xfrm>
              <a:off x="6544945" y="3041522"/>
              <a:ext cx="837565" cy="724535"/>
            </a:xfrm>
            <a:custGeom>
              <a:avLst/>
              <a:gdLst/>
              <a:ahLst/>
              <a:cxnLst/>
              <a:rect l="l" t="t" r="r" b="b"/>
              <a:pathLst>
                <a:path w="837565" h="724535">
                  <a:moveTo>
                    <a:pt x="599566" y="0"/>
                  </a:moveTo>
                  <a:lnTo>
                    <a:pt x="0" y="207771"/>
                  </a:lnTo>
                  <a:lnTo>
                    <a:pt x="22012" y="250773"/>
                  </a:lnTo>
                  <a:lnTo>
                    <a:pt x="46390" y="292850"/>
                  </a:lnTo>
                  <a:lnTo>
                    <a:pt x="73085" y="333908"/>
                  </a:lnTo>
                  <a:lnTo>
                    <a:pt x="102044" y="373856"/>
                  </a:lnTo>
                  <a:lnTo>
                    <a:pt x="133218" y="412601"/>
                  </a:lnTo>
                  <a:lnTo>
                    <a:pt x="166556" y="450052"/>
                  </a:lnTo>
                  <a:lnTo>
                    <a:pt x="202007" y="486115"/>
                  </a:lnTo>
                  <a:lnTo>
                    <a:pt x="239522" y="520699"/>
                  </a:lnTo>
                  <a:lnTo>
                    <a:pt x="276377" y="551470"/>
                  </a:lnTo>
                  <a:lnTo>
                    <a:pt x="315007" y="580794"/>
                  </a:lnTo>
                  <a:lnTo>
                    <a:pt x="355375" y="608630"/>
                  </a:lnTo>
                  <a:lnTo>
                    <a:pt x="397446" y="634936"/>
                  </a:lnTo>
                  <a:lnTo>
                    <a:pt x="441184" y="659670"/>
                  </a:lnTo>
                  <a:lnTo>
                    <a:pt x="486552" y="682791"/>
                  </a:lnTo>
                  <a:lnTo>
                    <a:pt x="533517" y="704257"/>
                  </a:lnTo>
                  <a:lnTo>
                    <a:pt x="582040" y="724026"/>
                  </a:lnTo>
                  <a:lnTo>
                    <a:pt x="837437" y="205994"/>
                  </a:lnTo>
                  <a:lnTo>
                    <a:pt x="800179" y="190255"/>
                  </a:lnTo>
                  <a:lnTo>
                    <a:pt x="763873" y="170862"/>
                  </a:lnTo>
                  <a:lnTo>
                    <a:pt x="728567" y="147826"/>
                  </a:lnTo>
                  <a:lnTo>
                    <a:pt x="694308" y="121157"/>
                  </a:lnTo>
                  <a:lnTo>
                    <a:pt x="643223" y="67579"/>
                  </a:lnTo>
                  <a:lnTo>
                    <a:pt x="620371" y="35486"/>
                  </a:lnTo>
                  <a:lnTo>
                    <a:pt x="599566" y="0"/>
                  </a:lnTo>
                  <a:close/>
                </a:path>
              </a:pathLst>
            </a:custGeom>
            <a:solidFill>
              <a:srgbClr val="A4B7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27">
              <a:extLst>
                <a:ext uri="{FF2B5EF4-FFF2-40B4-BE49-F238E27FC236}">
                  <a16:creationId xmlns:a16="http://schemas.microsoft.com/office/drawing/2014/main" id="{66486340-B302-6FBD-6677-575CE7AA2784}"/>
                </a:ext>
              </a:extLst>
            </p:cNvPr>
            <p:cNvSpPr/>
            <p:nvPr/>
          </p:nvSpPr>
          <p:spPr>
            <a:xfrm>
              <a:off x="7124700" y="3247516"/>
              <a:ext cx="257810" cy="819150"/>
            </a:xfrm>
            <a:custGeom>
              <a:avLst/>
              <a:gdLst/>
              <a:ahLst/>
              <a:cxnLst/>
              <a:rect l="l" t="t" r="r" b="b"/>
              <a:pathLst>
                <a:path w="257809" h="819150">
                  <a:moveTo>
                    <a:pt x="257682" y="0"/>
                  </a:moveTo>
                  <a:lnTo>
                    <a:pt x="2285" y="518032"/>
                  </a:lnTo>
                  <a:lnTo>
                    <a:pt x="0" y="818527"/>
                  </a:lnTo>
                  <a:lnTo>
                    <a:pt x="257682" y="302259"/>
                  </a:lnTo>
                  <a:lnTo>
                    <a:pt x="257682" y="0"/>
                  </a:lnTo>
                  <a:close/>
                </a:path>
              </a:pathLst>
            </a:custGeom>
            <a:solidFill>
              <a:srgbClr val="374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28">
              <a:extLst>
                <a:ext uri="{FF2B5EF4-FFF2-40B4-BE49-F238E27FC236}">
                  <a16:creationId xmlns:a16="http://schemas.microsoft.com/office/drawing/2014/main" id="{020B72AC-7C80-AC67-DE2F-0594C5C7C562}"/>
                </a:ext>
              </a:extLst>
            </p:cNvPr>
            <p:cNvSpPr/>
            <p:nvPr/>
          </p:nvSpPr>
          <p:spPr>
            <a:xfrm>
              <a:off x="7130669" y="3455162"/>
              <a:ext cx="867410" cy="601345"/>
            </a:xfrm>
            <a:custGeom>
              <a:avLst/>
              <a:gdLst/>
              <a:ahLst/>
              <a:cxnLst/>
              <a:rect l="l" t="t" r="r" b="b"/>
              <a:pathLst>
                <a:path w="867409" h="601345">
                  <a:moveTo>
                    <a:pt x="628903" y="0"/>
                  </a:moveTo>
                  <a:lnTo>
                    <a:pt x="581991" y="15595"/>
                  </a:lnTo>
                  <a:lnTo>
                    <a:pt x="534685" y="26749"/>
                  </a:lnTo>
                  <a:lnTo>
                    <a:pt x="487118" y="33450"/>
                  </a:lnTo>
                  <a:lnTo>
                    <a:pt x="439420" y="35687"/>
                  </a:lnTo>
                  <a:lnTo>
                    <a:pt x="393146" y="33569"/>
                  </a:lnTo>
                  <a:lnTo>
                    <a:pt x="346979" y="27225"/>
                  </a:lnTo>
                  <a:lnTo>
                    <a:pt x="301027" y="16666"/>
                  </a:lnTo>
                  <a:lnTo>
                    <a:pt x="255397" y="1905"/>
                  </a:lnTo>
                  <a:lnTo>
                    <a:pt x="0" y="520649"/>
                  </a:lnTo>
                  <a:lnTo>
                    <a:pt x="48453" y="537507"/>
                  </a:lnTo>
                  <a:lnTo>
                    <a:pt x="97107" y="552378"/>
                  </a:lnTo>
                  <a:lnTo>
                    <a:pt x="145937" y="565264"/>
                  </a:lnTo>
                  <a:lnTo>
                    <a:pt x="194917" y="576164"/>
                  </a:lnTo>
                  <a:lnTo>
                    <a:pt x="244022" y="585081"/>
                  </a:lnTo>
                  <a:lnTo>
                    <a:pt x="293228" y="592014"/>
                  </a:lnTo>
                  <a:lnTo>
                    <a:pt x="342510" y="596966"/>
                  </a:lnTo>
                  <a:lnTo>
                    <a:pt x="391841" y="599936"/>
                  </a:lnTo>
                  <a:lnTo>
                    <a:pt x="441198" y="600925"/>
                  </a:lnTo>
                  <a:lnTo>
                    <a:pt x="488861" y="600000"/>
                  </a:lnTo>
                  <a:lnTo>
                    <a:pt x="536500" y="597224"/>
                  </a:lnTo>
                  <a:lnTo>
                    <a:pt x="584091" y="592598"/>
                  </a:lnTo>
                  <a:lnTo>
                    <a:pt x="631610" y="586123"/>
                  </a:lnTo>
                  <a:lnTo>
                    <a:pt x="679033" y="577801"/>
                  </a:lnTo>
                  <a:lnTo>
                    <a:pt x="726336" y="567631"/>
                  </a:lnTo>
                  <a:lnTo>
                    <a:pt x="773494" y="555614"/>
                  </a:lnTo>
                  <a:lnTo>
                    <a:pt x="820485" y="541753"/>
                  </a:lnTo>
                  <a:lnTo>
                    <a:pt x="867282" y="526046"/>
                  </a:lnTo>
                  <a:lnTo>
                    <a:pt x="628903" y="0"/>
                  </a:lnTo>
                  <a:close/>
                </a:path>
              </a:pathLst>
            </a:custGeom>
            <a:solidFill>
              <a:srgbClr val="A4B7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29">
              <a:extLst>
                <a:ext uri="{FF2B5EF4-FFF2-40B4-BE49-F238E27FC236}">
                  <a16:creationId xmlns:a16="http://schemas.microsoft.com/office/drawing/2014/main" id="{4D29DBB4-18BA-C653-1D39-869258EA3DDB}"/>
                </a:ext>
              </a:extLst>
            </p:cNvPr>
            <p:cNvSpPr/>
            <p:nvPr/>
          </p:nvSpPr>
          <p:spPr>
            <a:xfrm>
              <a:off x="7126097" y="3976789"/>
              <a:ext cx="871855" cy="174625"/>
            </a:xfrm>
            <a:custGeom>
              <a:avLst/>
              <a:gdLst/>
              <a:ahLst/>
              <a:cxnLst/>
              <a:rect l="l" t="t" r="r" b="b"/>
              <a:pathLst>
                <a:path w="871854" h="174625">
                  <a:moveTo>
                    <a:pt x="2285" y="0"/>
                  </a:moveTo>
                  <a:lnTo>
                    <a:pt x="0" y="94500"/>
                  </a:lnTo>
                  <a:lnTo>
                    <a:pt x="31496" y="106019"/>
                  </a:lnTo>
                  <a:lnTo>
                    <a:pt x="41401" y="109575"/>
                  </a:lnTo>
                  <a:lnTo>
                    <a:pt x="63626" y="116687"/>
                  </a:lnTo>
                  <a:lnTo>
                    <a:pt x="69469" y="118402"/>
                  </a:lnTo>
                  <a:lnTo>
                    <a:pt x="75946" y="120116"/>
                  </a:lnTo>
                  <a:lnTo>
                    <a:pt x="89280" y="124523"/>
                  </a:lnTo>
                  <a:lnTo>
                    <a:pt x="93979" y="125514"/>
                  </a:lnTo>
                  <a:lnTo>
                    <a:pt x="98678" y="127228"/>
                  </a:lnTo>
                  <a:lnTo>
                    <a:pt x="103377" y="128079"/>
                  </a:lnTo>
                  <a:lnTo>
                    <a:pt x="116839" y="131635"/>
                  </a:lnTo>
                  <a:lnTo>
                    <a:pt x="130809" y="136055"/>
                  </a:lnTo>
                  <a:lnTo>
                    <a:pt x="144272" y="138747"/>
                  </a:lnTo>
                  <a:lnTo>
                    <a:pt x="171703" y="145859"/>
                  </a:lnTo>
                  <a:lnTo>
                    <a:pt x="179324" y="147574"/>
                  </a:lnTo>
                  <a:lnTo>
                    <a:pt x="185800" y="148424"/>
                  </a:lnTo>
                  <a:lnTo>
                    <a:pt x="198627" y="151130"/>
                  </a:lnTo>
                  <a:lnTo>
                    <a:pt x="213232" y="153822"/>
                  </a:lnTo>
                  <a:lnTo>
                    <a:pt x="226059" y="156400"/>
                  </a:lnTo>
                  <a:lnTo>
                    <a:pt x="240664" y="159092"/>
                  </a:lnTo>
                  <a:lnTo>
                    <a:pt x="281050" y="164363"/>
                  </a:lnTo>
                  <a:lnTo>
                    <a:pt x="286893" y="165214"/>
                  </a:lnTo>
                  <a:lnTo>
                    <a:pt x="289813" y="165214"/>
                  </a:lnTo>
                  <a:lnTo>
                    <a:pt x="292734" y="166077"/>
                  </a:lnTo>
                  <a:lnTo>
                    <a:pt x="295655" y="166077"/>
                  </a:lnTo>
                  <a:lnTo>
                    <a:pt x="308482" y="167919"/>
                  </a:lnTo>
                  <a:lnTo>
                    <a:pt x="323087" y="169633"/>
                  </a:lnTo>
                  <a:lnTo>
                    <a:pt x="336042" y="170611"/>
                  </a:lnTo>
                  <a:lnTo>
                    <a:pt x="390905" y="174040"/>
                  </a:lnTo>
                  <a:lnTo>
                    <a:pt x="515366" y="174040"/>
                  </a:lnTo>
                  <a:lnTo>
                    <a:pt x="532383" y="172326"/>
                  </a:lnTo>
                  <a:lnTo>
                    <a:pt x="544576" y="171475"/>
                  </a:lnTo>
                  <a:lnTo>
                    <a:pt x="561594" y="170611"/>
                  </a:lnTo>
                  <a:lnTo>
                    <a:pt x="573785" y="168770"/>
                  </a:lnTo>
                  <a:lnTo>
                    <a:pt x="590803" y="167055"/>
                  </a:lnTo>
                  <a:lnTo>
                    <a:pt x="602487" y="165214"/>
                  </a:lnTo>
                  <a:lnTo>
                    <a:pt x="620522" y="163499"/>
                  </a:lnTo>
                  <a:lnTo>
                    <a:pt x="629284" y="161658"/>
                  </a:lnTo>
                  <a:lnTo>
                    <a:pt x="631062" y="161658"/>
                  </a:lnTo>
                  <a:lnTo>
                    <a:pt x="639335" y="160734"/>
                  </a:lnTo>
                  <a:lnTo>
                    <a:pt x="647430" y="159396"/>
                  </a:lnTo>
                  <a:lnTo>
                    <a:pt x="663321" y="156400"/>
                  </a:lnTo>
                  <a:lnTo>
                    <a:pt x="670813" y="155536"/>
                  </a:lnTo>
                  <a:lnTo>
                    <a:pt x="695959" y="150266"/>
                  </a:lnTo>
                  <a:lnTo>
                    <a:pt x="705866" y="148424"/>
                  </a:lnTo>
                  <a:lnTo>
                    <a:pt x="712348" y="147105"/>
                  </a:lnTo>
                  <a:lnTo>
                    <a:pt x="718677" y="145683"/>
                  </a:lnTo>
                  <a:lnTo>
                    <a:pt x="724886" y="144101"/>
                  </a:lnTo>
                  <a:lnTo>
                    <a:pt x="731011" y="142303"/>
                  </a:lnTo>
                  <a:lnTo>
                    <a:pt x="738124" y="141439"/>
                  </a:lnTo>
                  <a:lnTo>
                    <a:pt x="746009" y="139285"/>
                  </a:lnTo>
                  <a:lnTo>
                    <a:pt x="761734" y="134653"/>
                  </a:lnTo>
                  <a:lnTo>
                    <a:pt x="769620" y="132499"/>
                  </a:lnTo>
                  <a:lnTo>
                    <a:pt x="771398" y="132499"/>
                  </a:lnTo>
                  <a:lnTo>
                    <a:pt x="774826" y="131635"/>
                  </a:lnTo>
                  <a:lnTo>
                    <a:pt x="822832" y="117538"/>
                  </a:lnTo>
                  <a:lnTo>
                    <a:pt x="868933" y="101612"/>
                  </a:lnTo>
                  <a:lnTo>
                    <a:pt x="869516" y="78562"/>
                  </a:lnTo>
                  <a:lnTo>
                    <a:pt x="380364" y="78562"/>
                  </a:lnTo>
                  <a:lnTo>
                    <a:pt x="352932" y="76847"/>
                  </a:lnTo>
                  <a:lnTo>
                    <a:pt x="338327" y="75133"/>
                  </a:lnTo>
                  <a:lnTo>
                    <a:pt x="325500" y="74155"/>
                  </a:lnTo>
                  <a:lnTo>
                    <a:pt x="310896" y="72440"/>
                  </a:lnTo>
                  <a:lnTo>
                    <a:pt x="297942" y="71577"/>
                  </a:lnTo>
                  <a:lnTo>
                    <a:pt x="270509" y="68021"/>
                  </a:lnTo>
                  <a:lnTo>
                    <a:pt x="255904" y="65328"/>
                  </a:lnTo>
                  <a:lnTo>
                    <a:pt x="243077" y="63614"/>
                  </a:lnTo>
                  <a:lnTo>
                    <a:pt x="228473" y="60921"/>
                  </a:lnTo>
                  <a:lnTo>
                    <a:pt x="215646" y="59207"/>
                  </a:lnTo>
                  <a:lnTo>
                    <a:pt x="201041" y="56502"/>
                  </a:lnTo>
                  <a:lnTo>
                    <a:pt x="188086" y="53809"/>
                  </a:lnTo>
                  <a:lnTo>
                    <a:pt x="174117" y="50380"/>
                  </a:lnTo>
                  <a:lnTo>
                    <a:pt x="160020" y="47688"/>
                  </a:lnTo>
                  <a:lnTo>
                    <a:pt x="146684" y="44132"/>
                  </a:lnTo>
                  <a:lnTo>
                    <a:pt x="132587" y="40576"/>
                  </a:lnTo>
                  <a:lnTo>
                    <a:pt x="119125" y="37020"/>
                  </a:lnTo>
                  <a:lnTo>
                    <a:pt x="105155" y="33591"/>
                  </a:lnTo>
                  <a:lnTo>
                    <a:pt x="91694" y="29171"/>
                  </a:lnTo>
                  <a:lnTo>
                    <a:pt x="77724" y="25615"/>
                  </a:lnTo>
                  <a:lnTo>
                    <a:pt x="66039" y="21209"/>
                  </a:lnTo>
                  <a:lnTo>
                    <a:pt x="43687" y="14097"/>
                  </a:lnTo>
                  <a:lnTo>
                    <a:pt x="33781" y="10541"/>
                  </a:lnTo>
                  <a:lnTo>
                    <a:pt x="2285" y="0"/>
                  </a:lnTo>
                  <a:close/>
                </a:path>
                <a:path w="871854" h="174625">
                  <a:moveTo>
                    <a:pt x="871347" y="6134"/>
                  </a:moveTo>
                  <a:lnTo>
                    <a:pt x="848741" y="12858"/>
                  </a:lnTo>
                  <a:lnTo>
                    <a:pt x="837199" y="16424"/>
                  </a:lnTo>
                  <a:lnTo>
                    <a:pt x="811422" y="25000"/>
                  </a:lnTo>
                  <a:lnTo>
                    <a:pt x="800036" y="28468"/>
                  </a:lnTo>
                  <a:lnTo>
                    <a:pt x="788650" y="31615"/>
                  </a:lnTo>
                  <a:lnTo>
                    <a:pt x="777239" y="34442"/>
                  </a:lnTo>
                  <a:lnTo>
                    <a:pt x="772541" y="36156"/>
                  </a:lnTo>
                  <a:lnTo>
                    <a:pt x="741045" y="44132"/>
                  </a:lnTo>
                  <a:lnTo>
                    <a:pt x="738631" y="44983"/>
                  </a:lnTo>
                  <a:lnTo>
                    <a:pt x="736346" y="44983"/>
                  </a:lnTo>
                  <a:lnTo>
                    <a:pt x="733932" y="45961"/>
                  </a:lnTo>
                  <a:lnTo>
                    <a:pt x="708786" y="51231"/>
                  </a:lnTo>
                  <a:lnTo>
                    <a:pt x="698880" y="53809"/>
                  </a:lnTo>
                  <a:lnTo>
                    <a:pt x="673226" y="58343"/>
                  </a:lnTo>
                  <a:lnTo>
                    <a:pt x="666242" y="60058"/>
                  </a:lnTo>
                  <a:lnTo>
                    <a:pt x="633983" y="65328"/>
                  </a:lnTo>
                  <a:lnTo>
                    <a:pt x="623443" y="66192"/>
                  </a:lnTo>
                  <a:lnTo>
                    <a:pt x="593725" y="70726"/>
                  </a:lnTo>
                  <a:lnTo>
                    <a:pt x="576199" y="72440"/>
                  </a:lnTo>
                  <a:lnTo>
                    <a:pt x="564514" y="73291"/>
                  </a:lnTo>
                  <a:lnTo>
                    <a:pt x="546988" y="75133"/>
                  </a:lnTo>
                  <a:lnTo>
                    <a:pt x="535304" y="76847"/>
                  </a:lnTo>
                  <a:lnTo>
                    <a:pt x="517778" y="77711"/>
                  </a:lnTo>
                  <a:lnTo>
                    <a:pt x="505459" y="78562"/>
                  </a:lnTo>
                  <a:lnTo>
                    <a:pt x="869516" y="78562"/>
                  </a:lnTo>
                  <a:lnTo>
                    <a:pt x="871347" y="6134"/>
                  </a:lnTo>
                  <a:close/>
                </a:path>
              </a:pathLst>
            </a:custGeom>
            <a:solidFill>
              <a:srgbClr val="3748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3144500" y="0"/>
            <a:ext cx="5143500" cy="5143500"/>
          </a:xfrm>
          <a:custGeom>
            <a:avLst/>
            <a:gdLst/>
            <a:ahLst/>
            <a:cxnLst/>
            <a:rect l="l" t="t" r="r" b="b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009650"/>
            <a:ext cx="6210300" cy="1109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875"/>
              </a:lnSpc>
            </a:pPr>
            <a:r>
              <a:rPr lang="en-US" sz="9600" b="1" i="1" u="sng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Introduction</a:t>
            </a: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B134C6DE-7872-0C3E-7D19-694C73CF61ED}"/>
              </a:ext>
            </a:extLst>
          </p:cNvPr>
          <p:cNvSpPr txBox="1"/>
          <p:nvPr/>
        </p:nvSpPr>
        <p:spPr>
          <a:xfrm>
            <a:off x="1032013" y="3086100"/>
            <a:ext cx="6621490" cy="5127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750">
              <a:lnSpc>
                <a:spcPct val="100000"/>
              </a:lnSpc>
              <a:spcBef>
                <a:spcPts val="100"/>
              </a:spcBef>
              <a:buSzPct val="94444"/>
              <a:buFont typeface="Wingdings" panose="05000000000000000000" pitchFamily="2" charset="2"/>
              <a:buChar char="q"/>
              <a:tabLst>
                <a:tab pos="93980" algn="l"/>
              </a:tabLst>
            </a:pPr>
            <a:r>
              <a:rPr lang="en-US" sz="2400" b="1" dirty="0"/>
              <a:t> </a:t>
            </a:r>
            <a:r>
              <a:rPr lang="en-US" sz="2800" b="1" dirty="0"/>
              <a:t>Challenges in Sri Lanka’s Transport Sector: </a:t>
            </a:r>
          </a:p>
          <a:p>
            <a:pPr marL="574675" indent="-6350">
              <a:lnSpc>
                <a:spcPct val="100000"/>
              </a:lnSpc>
              <a:spcBef>
                <a:spcPts val="100"/>
              </a:spcBef>
              <a:buSzPct val="94444"/>
              <a:buFont typeface="Courier New" panose="02070309020205020404" pitchFamily="49" charset="0"/>
              <a:buChar char="o"/>
              <a:tabLst>
                <a:tab pos="93980" algn="l"/>
              </a:tabLst>
            </a:pPr>
            <a:r>
              <a:rPr lang="en-US" sz="2400" dirty="0"/>
              <a:t> High reliance on fossil fuels </a:t>
            </a:r>
          </a:p>
          <a:p>
            <a:pPr marL="574675" indent="-6350">
              <a:lnSpc>
                <a:spcPct val="100000"/>
              </a:lnSpc>
              <a:spcBef>
                <a:spcPts val="100"/>
              </a:spcBef>
              <a:buSzPct val="94444"/>
              <a:buFont typeface="Courier New" panose="02070309020205020404" pitchFamily="49" charset="0"/>
              <a:buChar char="o"/>
              <a:tabLst>
                <a:tab pos="93980" algn="l"/>
              </a:tabLst>
            </a:pPr>
            <a:r>
              <a:rPr lang="en-US" sz="2400" dirty="0"/>
              <a:t> Significant greenhouse gas emissions </a:t>
            </a:r>
          </a:p>
          <a:p>
            <a:pPr marL="574675" indent="-6350">
              <a:lnSpc>
                <a:spcPct val="100000"/>
              </a:lnSpc>
              <a:spcBef>
                <a:spcPts val="100"/>
              </a:spcBef>
              <a:buSzPct val="94444"/>
              <a:buFont typeface="Courier New" panose="02070309020205020404" pitchFamily="49" charset="0"/>
              <a:buChar char="o"/>
              <a:tabLst>
                <a:tab pos="93980" algn="l"/>
              </a:tabLst>
            </a:pPr>
            <a:r>
              <a:rPr lang="en-US" sz="2400" dirty="0"/>
              <a:t> High fuel costs impacting the economy </a:t>
            </a:r>
          </a:p>
          <a:p>
            <a:pPr marL="568325">
              <a:lnSpc>
                <a:spcPct val="100000"/>
              </a:lnSpc>
              <a:spcBef>
                <a:spcPts val="100"/>
              </a:spcBef>
              <a:buSzPct val="94444"/>
              <a:tabLst>
                <a:tab pos="93980" algn="l"/>
              </a:tabLst>
            </a:pPr>
            <a:endParaRPr lang="en-US" sz="2400" dirty="0"/>
          </a:p>
          <a:p>
            <a:pPr marL="297815" indent="-285750">
              <a:lnSpc>
                <a:spcPct val="100000"/>
              </a:lnSpc>
              <a:spcBef>
                <a:spcPts val="100"/>
              </a:spcBef>
              <a:buSzPct val="94444"/>
              <a:buFont typeface="Wingdings" panose="05000000000000000000" pitchFamily="2" charset="2"/>
              <a:buChar char="q"/>
              <a:tabLst>
                <a:tab pos="93980" algn="l"/>
              </a:tabLst>
            </a:pPr>
            <a:r>
              <a:rPr lang="en-US" sz="2800" b="1" dirty="0"/>
              <a:t> Project Goal</a:t>
            </a:r>
            <a:r>
              <a:rPr lang="en-US" sz="2800" dirty="0"/>
              <a:t>: </a:t>
            </a:r>
          </a:p>
          <a:p>
            <a:pPr marL="630238" indent="-61913">
              <a:lnSpc>
                <a:spcPct val="100000"/>
              </a:lnSpc>
              <a:spcBef>
                <a:spcPts val="100"/>
              </a:spcBef>
              <a:buSzPct val="94444"/>
              <a:buFont typeface="Courier New" panose="02070309020205020404" pitchFamily="49" charset="0"/>
              <a:buChar char="o"/>
              <a:tabLst>
                <a:tab pos="93980" algn="l"/>
              </a:tabLst>
            </a:pPr>
            <a:r>
              <a:rPr lang="en-US" sz="2000" dirty="0"/>
              <a:t> </a:t>
            </a:r>
            <a:r>
              <a:rPr lang="en-US" sz="2400" dirty="0"/>
              <a:t>Develop sustainable</a:t>
            </a:r>
          </a:p>
          <a:p>
            <a:pPr marL="630238" indent="-61913">
              <a:lnSpc>
                <a:spcPct val="100000"/>
              </a:lnSpc>
              <a:spcBef>
                <a:spcPts val="100"/>
              </a:spcBef>
              <a:buSzPct val="94444"/>
              <a:buFont typeface="Courier New" panose="02070309020205020404" pitchFamily="49" charset="0"/>
              <a:buChar char="o"/>
              <a:tabLst>
                <a:tab pos="93980" algn="l"/>
              </a:tabLst>
            </a:pPr>
            <a:r>
              <a:rPr lang="en-US" sz="2400" dirty="0"/>
              <a:t> Cost-effective EV conversion solutions for motorcycles. </a:t>
            </a:r>
          </a:p>
          <a:p>
            <a:pPr marL="568325">
              <a:lnSpc>
                <a:spcPct val="100000"/>
              </a:lnSpc>
              <a:spcBef>
                <a:spcPts val="100"/>
              </a:spcBef>
              <a:buSzPct val="94444"/>
              <a:tabLst>
                <a:tab pos="93980" algn="l"/>
              </a:tabLst>
            </a:pPr>
            <a:endParaRPr lang="en-US" sz="2400" dirty="0"/>
          </a:p>
          <a:p>
            <a:pPr marL="297815" indent="-285750">
              <a:lnSpc>
                <a:spcPct val="100000"/>
              </a:lnSpc>
              <a:spcBef>
                <a:spcPts val="100"/>
              </a:spcBef>
              <a:buSzPct val="94444"/>
              <a:buFont typeface="Wingdings" panose="05000000000000000000" pitchFamily="2" charset="2"/>
              <a:buChar char="q"/>
              <a:tabLst>
                <a:tab pos="93980" algn="l"/>
              </a:tabLst>
            </a:pPr>
            <a:r>
              <a:rPr lang="en-US" sz="2400" b="1" dirty="0"/>
              <a:t> </a:t>
            </a:r>
            <a:r>
              <a:rPr lang="en-US" sz="2800" b="1" dirty="0"/>
              <a:t>Innovative Idea</a:t>
            </a:r>
            <a:r>
              <a:rPr lang="en-US" sz="2800" dirty="0"/>
              <a:t>: </a:t>
            </a:r>
          </a:p>
          <a:p>
            <a:pPr marL="568325" indent="234950">
              <a:lnSpc>
                <a:spcPct val="100000"/>
              </a:lnSpc>
              <a:spcBef>
                <a:spcPts val="100"/>
              </a:spcBef>
              <a:buSzPct val="94444"/>
              <a:buFont typeface="Courier New" panose="02070309020205020404" pitchFamily="49" charset="0"/>
              <a:buChar char="o"/>
              <a:tabLst>
                <a:tab pos="93663" algn="l"/>
                <a:tab pos="741363" algn="l"/>
              </a:tabLst>
            </a:pPr>
            <a:r>
              <a:rPr lang="en-US" sz="2400" dirty="0"/>
              <a:t>Introducing the concept of plug-in hybrid motorcycles (Electric + Fuel).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A5EAB9A5-4E3A-116C-CD14-EC0E58A885B9}"/>
              </a:ext>
            </a:extLst>
          </p:cNvPr>
          <p:cNvPicPr/>
          <p:nvPr/>
        </p:nvPicPr>
        <p:blipFill>
          <a:blip r:embed="rId4" cstate="print">
            <a:alphaModFix/>
          </a:blip>
          <a:stretch>
            <a:fillRect/>
          </a:stretch>
        </p:blipFill>
        <p:spPr>
          <a:xfrm>
            <a:off x="8458200" y="0"/>
            <a:ext cx="98298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182390"/>
            <a:ext cx="7328478" cy="3104610"/>
          </a:xfrm>
          <a:custGeom>
            <a:avLst/>
            <a:gdLst/>
            <a:ahLst/>
            <a:cxnLst/>
            <a:rect l="l" t="t" r="r" b="b"/>
            <a:pathLst>
              <a:path w="7328478" h="3104610">
                <a:moveTo>
                  <a:pt x="0" y="0"/>
                </a:moveTo>
                <a:lnTo>
                  <a:pt x="7328478" y="0"/>
                </a:lnTo>
                <a:lnTo>
                  <a:pt x="7328478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95350"/>
            <a:ext cx="10119772" cy="1321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sz="9600" b="1" i="1" u="sng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Objectives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562225"/>
            <a:ext cx="15929425" cy="3836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950" indent="396875" algn="l">
              <a:lnSpc>
                <a:spcPts val="6119"/>
              </a:lnSpc>
              <a:buAutoNum type="arabicPeriod"/>
            </a:pPr>
            <a:r>
              <a:rPr lang="en-US" sz="3600" b="1" dirty="0"/>
              <a:t>Technical Feasibility: </a:t>
            </a:r>
            <a:r>
              <a:rPr lang="en-US" sz="3600" dirty="0"/>
              <a:t>Evaluate and select optimal components. </a:t>
            </a:r>
          </a:p>
          <a:p>
            <a:pPr marL="742950" indent="396875" algn="l">
              <a:lnSpc>
                <a:spcPts val="6119"/>
              </a:lnSpc>
              <a:buAutoNum type="arabicPeriod"/>
            </a:pPr>
            <a:r>
              <a:rPr lang="en-US" sz="3600" b="1" dirty="0"/>
              <a:t>Design Optimization: </a:t>
            </a:r>
            <a:r>
              <a:rPr lang="en-US" sz="3600" dirty="0"/>
              <a:t>Balance weight, speed, and range. </a:t>
            </a:r>
          </a:p>
          <a:p>
            <a:pPr marL="742950" indent="396875" algn="l">
              <a:lnSpc>
                <a:spcPts val="6119"/>
              </a:lnSpc>
              <a:buAutoNum type="arabicPeriod"/>
            </a:pPr>
            <a:r>
              <a:rPr lang="en-US" sz="3600" b="1" dirty="0"/>
              <a:t>Financial Feasibility: </a:t>
            </a:r>
            <a:r>
              <a:rPr lang="en-US" sz="3600" dirty="0"/>
              <a:t>Assess costs and potential savings. </a:t>
            </a:r>
          </a:p>
          <a:p>
            <a:pPr marL="742950" indent="396875" algn="l">
              <a:lnSpc>
                <a:spcPts val="6119"/>
              </a:lnSpc>
              <a:buAutoNum type="arabicPeriod"/>
            </a:pPr>
            <a:r>
              <a:rPr lang="en-US" sz="3600" b="1" dirty="0"/>
              <a:t>Scaling Recommendations: </a:t>
            </a:r>
            <a:r>
              <a:rPr lang="en-US" sz="3600" dirty="0"/>
              <a:t>Propose renewable energy integration and policy                        </a:t>
            </a:r>
          </a:p>
          <a:p>
            <a:pPr marL="742950" algn="l">
              <a:lnSpc>
                <a:spcPts val="6119"/>
              </a:lnSpc>
            </a:pPr>
            <a:r>
              <a:rPr lang="en-US" sz="3600" dirty="0"/>
              <a:t>                                                      frameworks. </a:t>
            </a:r>
            <a:endParaRPr lang="en-US" sz="3599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D2F133-827C-2F61-2DB3-BCC903CE2B4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3390900"/>
            <a:ext cx="6850434" cy="56863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7AC8-5B70-70AD-313B-85E1BCCF4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78C032-625E-5C1B-9FFC-D8A31852198D}"/>
              </a:ext>
            </a:extLst>
          </p:cNvPr>
          <p:cNvSpPr/>
          <p:nvPr/>
        </p:nvSpPr>
        <p:spPr>
          <a:xfrm flipV="1">
            <a:off x="0" y="23130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0" y="2276155"/>
                </a:moveTo>
                <a:lnTo>
                  <a:pt x="5372897" y="2276155"/>
                </a:lnTo>
                <a:lnTo>
                  <a:pt x="5372897" y="0"/>
                </a:lnTo>
                <a:lnTo>
                  <a:pt x="0" y="0"/>
                </a:lnTo>
                <a:lnTo>
                  <a:pt x="0" y="22761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8B14AB0-8EE2-1051-4755-691EF2D63F16}"/>
              </a:ext>
            </a:extLst>
          </p:cNvPr>
          <p:cNvSpPr/>
          <p:nvPr/>
        </p:nvSpPr>
        <p:spPr>
          <a:xfrm flipH="1" flipV="1">
            <a:off x="12915103" y="23731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5372897" y="2276155"/>
                </a:moveTo>
                <a:lnTo>
                  <a:pt x="0" y="2276155"/>
                </a:lnTo>
                <a:lnTo>
                  <a:pt x="0" y="0"/>
                </a:lnTo>
                <a:lnTo>
                  <a:pt x="5372897" y="0"/>
                </a:lnTo>
                <a:lnTo>
                  <a:pt x="5372897" y="22761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B67AFD9-746D-A9C2-7A54-9922725AF26A}"/>
              </a:ext>
            </a:extLst>
          </p:cNvPr>
          <p:cNvSpPr txBox="1"/>
          <p:nvPr/>
        </p:nvSpPr>
        <p:spPr>
          <a:xfrm>
            <a:off x="4064725" y="895350"/>
            <a:ext cx="10196150" cy="3824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</a:t>
            </a:r>
            <a:r>
              <a:rPr lang="en-US" sz="9600" b="1" i="1" u="sng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Timeline</a:t>
            </a:r>
          </a:p>
          <a:p>
            <a:pPr algn="ctr">
              <a:lnSpc>
                <a:spcPts val="10080"/>
              </a:lnSpc>
            </a:pPr>
            <a:endParaRPr lang="en-US" sz="7200" b="1" i="1" dirty="0">
              <a:solidFill>
                <a:srgbClr val="2D3880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endParaRPr lang="en-US" sz="7200" b="1" i="1" dirty="0">
              <a:solidFill>
                <a:srgbClr val="2D3880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pic>
        <p:nvPicPr>
          <p:cNvPr id="14" name="object 3">
            <a:extLst>
              <a:ext uri="{FF2B5EF4-FFF2-40B4-BE49-F238E27FC236}">
                <a16:creationId xmlns:a16="http://schemas.microsoft.com/office/drawing/2014/main" id="{0E200513-77ED-1E99-39AB-3EDB01AECAA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001" y="2299284"/>
            <a:ext cx="16992600" cy="7092366"/>
          </a:xfrm>
          <a:prstGeom prst="rect">
            <a:avLst/>
          </a:prstGeom>
        </p:spPr>
      </p:pic>
      <p:grpSp>
        <p:nvGrpSpPr>
          <p:cNvPr id="15" name="object 4">
            <a:extLst>
              <a:ext uri="{FF2B5EF4-FFF2-40B4-BE49-F238E27FC236}">
                <a16:creationId xmlns:a16="http://schemas.microsoft.com/office/drawing/2014/main" id="{7D94CEF0-82F4-8B32-62C1-CFA62A76C833}"/>
              </a:ext>
            </a:extLst>
          </p:cNvPr>
          <p:cNvGrpSpPr/>
          <p:nvPr/>
        </p:nvGrpSpPr>
        <p:grpSpPr>
          <a:xfrm>
            <a:off x="6248400" y="1181100"/>
            <a:ext cx="609600" cy="736257"/>
            <a:chOff x="719799" y="310768"/>
            <a:chExt cx="421005" cy="487680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D83CA01E-3F94-9456-A1EA-400B9494593D}"/>
                </a:ext>
              </a:extLst>
            </p:cNvPr>
            <p:cNvSpPr/>
            <p:nvPr/>
          </p:nvSpPr>
          <p:spPr>
            <a:xfrm>
              <a:off x="719799" y="310768"/>
              <a:ext cx="421005" cy="487680"/>
            </a:xfrm>
            <a:custGeom>
              <a:avLst/>
              <a:gdLst/>
              <a:ahLst/>
              <a:cxnLst/>
              <a:rect l="l" t="t" r="r" b="b"/>
              <a:pathLst>
                <a:path w="421005" h="487680">
                  <a:moveTo>
                    <a:pt x="201052" y="63245"/>
                  </a:moveTo>
                  <a:lnTo>
                    <a:pt x="186053" y="63245"/>
                  </a:lnTo>
                  <a:lnTo>
                    <a:pt x="186053" y="88137"/>
                  </a:lnTo>
                  <a:lnTo>
                    <a:pt x="139578" y="98290"/>
                  </a:lnTo>
                  <a:lnTo>
                    <a:pt x="98709" y="117086"/>
                  </a:lnTo>
                  <a:lnTo>
                    <a:pt x="64061" y="143149"/>
                  </a:lnTo>
                  <a:lnTo>
                    <a:pt x="36251" y="175101"/>
                  </a:lnTo>
                  <a:lnTo>
                    <a:pt x="15894" y="211566"/>
                  </a:lnTo>
                  <a:lnTo>
                    <a:pt x="3604" y="251166"/>
                  </a:lnTo>
                  <a:lnTo>
                    <a:pt x="0" y="292525"/>
                  </a:lnTo>
                  <a:lnTo>
                    <a:pt x="5694" y="334266"/>
                  </a:lnTo>
                  <a:lnTo>
                    <a:pt x="21304" y="375011"/>
                  </a:lnTo>
                  <a:lnTo>
                    <a:pt x="47445" y="413384"/>
                  </a:lnTo>
                  <a:lnTo>
                    <a:pt x="82031" y="445527"/>
                  </a:lnTo>
                  <a:lnTo>
                    <a:pt x="121975" y="468693"/>
                  </a:lnTo>
                  <a:lnTo>
                    <a:pt x="165538" y="482715"/>
                  </a:lnTo>
                  <a:lnTo>
                    <a:pt x="210983" y="487425"/>
                  </a:lnTo>
                  <a:lnTo>
                    <a:pt x="245932" y="484651"/>
                  </a:lnTo>
                  <a:lnTo>
                    <a:pt x="280198" y="476281"/>
                  </a:lnTo>
                  <a:lnTo>
                    <a:pt x="287396" y="473201"/>
                  </a:lnTo>
                  <a:lnTo>
                    <a:pt x="210183" y="473201"/>
                  </a:lnTo>
                  <a:lnTo>
                    <a:pt x="168060" y="468824"/>
                  </a:lnTo>
                  <a:lnTo>
                    <a:pt x="127773" y="455802"/>
                  </a:lnTo>
                  <a:lnTo>
                    <a:pt x="90914" y="434304"/>
                  </a:lnTo>
                  <a:lnTo>
                    <a:pt x="59078" y="404494"/>
                  </a:lnTo>
                  <a:lnTo>
                    <a:pt x="34975" y="368932"/>
                  </a:lnTo>
                  <a:lnTo>
                    <a:pt x="20537" y="331209"/>
                  </a:lnTo>
                  <a:lnTo>
                    <a:pt x="15210" y="292586"/>
                  </a:lnTo>
                  <a:lnTo>
                    <a:pt x="18443" y="254322"/>
                  </a:lnTo>
                  <a:lnTo>
                    <a:pt x="29681" y="217677"/>
                  </a:lnTo>
                  <a:lnTo>
                    <a:pt x="48372" y="183914"/>
                  </a:lnTo>
                  <a:lnTo>
                    <a:pt x="73964" y="154291"/>
                  </a:lnTo>
                  <a:lnTo>
                    <a:pt x="105903" y="130069"/>
                  </a:lnTo>
                  <a:lnTo>
                    <a:pt x="143637" y="112508"/>
                  </a:lnTo>
                  <a:lnTo>
                    <a:pt x="186612" y="102869"/>
                  </a:lnTo>
                  <a:lnTo>
                    <a:pt x="202918" y="101472"/>
                  </a:lnTo>
                  <a:lnTo>
                    <a:pt x="286877" y="101472"/>
                  </a:lnTo>
                  <a:lnTo>
                    <a:pt x="273457" y="96045"/>
                  </a:lnTo>
                  <a:lnTo>
                    <a:pt x="234872" y="88137"/>
                  </a:lnTo>
                  <a:lnTo>
                    <a:pt x="234872" y="87121"/>
                  </a:lnTo>
                  <a:lnTo>
                    <a:pt x="201052" y="87121"/>
                  </a:lnTo>
                  <a:lnTo>
                    <a:pt x="201052" y="63245"/>
                  </a:lnTo>
                  <a:close/>
                </a:path>
                <a:path w="421005" h="487680">
                  <a:moveTo>
                    <a:pt x="286877" y="101472"/>
                  </a:moveTo>
                  <a:lnTo>
                    <a:pt x="211021" y="101472"/>
                  </a:lnTo>
                  <a:lnTo>
                    <a:pt x="253064" y="105884"/>
                  </a:lnTo>
                  <a:lnTo>
                    <a:pt x="293377" y="118951"/>
                  </a:lnTo>
                  <a:lnTo>
                    <a:pt x="330372" y="140424"/>
                  </a:lnTo>
                  <a:lnTo>
                    <a:pt x="362456" y="170052"/>
                  </a:lnTo>
                  <a:lnTo>
                    <a:pt x="389420" y="212405"/>
                  </a:lnTo>
                  <a:lnTo>
                    <a:pt x="403388" y="258642"/>
                  </a:lnTo>
                  <a:lnTo>
                    <a:pt x="404575" y="306212"/>
                  </a:lnTo>
                  <a:lnTo>
                    <a:pt x="393198" y="352566"/>
                  </a:lnTo>
                  <a:lnTo>
                    <a:pt x="369473" y="395151"/>
                  </a:lnTo>
                  <a:lnTo>
                    <a:pt x="333614" y="431418"/>
                  </a:lnTo>
                  <a:lnTo>
                    <a:pt x="274432" y="462835"/>
                  </a:lnTo>
                  <a:lnTo>
                    <a:pt x="210183" y="473201"/>
                  </a:lnTo>
                  <a:lnTo>
                    <a:pt x="287396" y="473201"/>
                  </a:lnTo>
                  <a:lnTo>
                    <a:pt x="343584" y="442467"/>
                  </a:lnTo>
                  <a:lnTo>
                    <a:pt x="377404" y="409383"/>
                  </a:lnTo>
                  <a:lnTo>
                    <a:pt x="401713" y="371045"/>
                  </a:lnTo>
                  <a:lnTo>
                    <a:pt x="416311" y="329181"/>
                  </a:lnTo>
                  <a:lnTo>
                    <a:pt x="420994" y="285519"/>
                  </a:lnTo>
                  <a:lnTo>
                    <a:pt x="415562" y="241789"/>
                  </a:lnTo>
                  <a:lnTo>
                    <a:pt x="399812" y="199718"/>
                  </a:lnTo>
                  <a:lnTo>
                    <a:pt x="373543" y="161035"/>
                  </a:lnTo>
                  <a:lnTo>
                    <a:pt x="343994" y="132625"/>
                  </a:lnTo>
                  <a:lnTo>
                    <a:pt x="310232" y="110918"/>
                  </a:lnTo>
                  <a:lnTo>
                    <a:pt x="286877" y="101472"/>
                  </a:lnTo>
                  <a:close/>
                </a:path>
                <a:path w="421005" h="487680">
                  <a:moveTo>
                    <a:pt x="234872" y="63245"/>
                  </a:moveTo>
                  <a:lnTo>
                    <a:pt x="219924" y="63245"/>
                  </a:lnTo>
                  <a:lnTo>
                    <a:pt x="219924" y="87121"/>
                  </a:lnTo>
                  <a:lnTo>
                    <a:pt x="234872" y="87121"/>
                  </a:lnTo>
                  <a:lnTo>
                    <a:pt x="234872" y="63245"/>
                  </a:lnTo>
                  <a:close/>
                </a:path>
                <a:path w="421005" h="487680">
                  <a:moveTo>
                    <a:pt x="250937" y="0"/>
                  </a:moveTo>
                  <a:lnTo>
                    <a:pt x="170546" y="0"/>
                  </a:lnTo>
                  <a:lnTo>
                    <a:pt x="157393" y="2494"/>
                  </a:lnTo>
                  <a:lnTo>
                    <a:pt x="146843" y="9286"/>
                  </a:lnTo>
                  <a:lnTo>
                    <a:pt x="139830" y="19341"/>
                  </a:lnTo>
                  <a:lnTo>
                    <a:pt x="137285" y="31622"/>
                  </a:lnTo>
                  <a:lnTo>
                    <a:pt x="139908" y="43904"/>
                  </a:lnTo>
                  <a:lnTo>
                    <a:pt x="147053" y="53959"/>
                  </a:lnTo>
                  <a:lnTo>
                    <a:pt x="157629" y="60751"/>
                  </a:lnTo>
                  <a:lnTo>
                    <a:pt x="170546" y="63245"/>
                  </a:lnTo>
                  <a:lnTo>
                    <a:pt x="250937" y="63245"/>
                  </a:lnTo>
                  <a:lnTo>
                    <a:pt x="264104" y="60680"/>
                  </a:lnTo>
                  <a:lnTo>
                    <a:pt x="274670" y="53768"/>
                  </a:lnTo>
                  <a:lnTo>
                    <a:pt x="278334" y="48513"/>
                  </a:lnTo>
                  <a:lnTo>
                    <a:pt x="160018" y="48513"/>
                  </a:lnTo>
                  <a:lnTo>
                    <a:pt x="152245" y="40639"/>
                  </a:lnTo>
                  <a:lnTo>
                    <a:pt x="152245" y="21589"/>
                  </a:lnTo>
                  <a:lnTo>
                    <a:pt x="160577" y="14223"/>
                  </a:lnTo>
                  <a:lnTo>
                    <a:pt x="277978" y="14223"/>
                  </a:lnTo>
                  <a:lnTo>
                    <a:pt x="274251" y="9096"/>
                  </a:lnTo>
                  <a:lnTo>
                    <a:pt x="263632" y="2422"/>
                  </a:lnTo>
                  <a:lnTo>
                    <a:pt x="250937" y="0"/>
                  </a:lnTo>
                  <a:close/>
                </a:path>
                <a:path w="421005" h="487680">
                  <a:moveTo>
                    <a:pt x="277978" y="14223"/>
                  </a:moveTo>
                  <a:lnTo>
                    <a:pt x="261516" y="14223"/>
                  </a:lnTo>
                  <a:lnTo>
                    <a:pt x="268692" y="22097"/>
                  </a:lnTo>
                  <a:lnTo>
                    <a:pt x="268692" y="41147"/>
                  </a:lnTo>
                  <a:lnTo>
                    <a:pt x="260399" y="48513"/>
                  </a:lnTo>
                  <a:lnTo>
                    <a:pt x="278334" y="48513"/>
                  </a:lnTo>
                  <a:lnTo>
                    <a:pt x="281698" y="43689"/>
                  </a:lnTo>
                  <a:lnTo>
                    <a:pt x="284249" y="31622"/>
                  </a:lnTo>
                  <a:lnTo>
                    <a:pt x="281541" y="19127"/>
                  </a:lnTo>
                  <a:lnTo>
                    <a:pt x="277978" y="14223"/>
                  </a:lnTo>
                  <a:close/>
                </a:path>
              </a:pathLst>
            </a:custGeom>
            <a:solidFill>
              <a:srgbClr val="647D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ADF55C9E-B189-0695-C0B5-408CEE2AB87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8342" y="589534"/>
              <a:ext cx="210210" cy="171450"/>
            </a:xfrm>
            <a:prstGeom prst="rect">
              <a:avLst/>
            </a:prstGeom>
          </p:spPr>
        </p:pic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B665CFB0-8DBC-70E9-CF80-321F8E0FD281}"/>
                </a:ext>
              </a:extLst>
            </p:cNvPr>
            <p:cNvSpPr/>
            <p:nvPr/>
          </p:nvSpPr>
          <p:spPr>
            <a:xfrm>
              <a:off x="760577" y="435228"/>
              <a:ext cx="299085" cy="140970"/>
            </a:xfrm>
            <a:custGeom>
              <a:avLst/>
              <a:gdLst/>
              <a:ahLst/>
              <a:cxnLst/>
              <a:rect l="l" t="t" r="r" b="b"/>
              <a:pathLst>
                <a:path w="299084" h="140970">
                  <a:moveTo>
                    <a:pt x="170243" y="0"/>
                  </a:moveTo>
                  <a:lnTo>
                    <a:pt x="124064" y="6052"/>
                  </a:lnTo>
                  <a:lnTo>
                    <a:pt x="81392" y="23485"/>
                  </a:lnTo>
                  <a:lnTo>
                    <a:pt x="44841" y="51215"/>
                  </a:lnTo>
                  <a:lnTo>
                    <a:pt x="17025" y="88156"/>
                  </a:lnTo>
                  <a:lnTo>
                    <a:pt x="558" y="133223"/>
                  </a:lnTo>
                  <a:lnTo>
                    <a:pt x="0" y="136906"/>
                  </a:lnTo>
                  <a:lnTo>
                    <a:pt x="3314" y="140588"/>
                  </a:lnTo>
                  <a:lnTo>
                    <a:pt x="11645" y="140588"/>
                  </a:lnTo>
                  <a:lnTo>
                    <a:pt x="15506" y="137922"/>
                  </a:lnTo>
                  <a:lnTo>
                    <a:pt x="16078" y="134747"/>
                  </a:lnTo>
                  <a:lnTo>
                    <a:pt x="31010" y="93480"/>
                  </a:lnTo>
                  <a:lnTo>
                    <a:pt x="56246" y="59760"/>
                  </a:lnTo>
                  <a:lnTo>
                    <a:pt x="89418" y="34519"/>
                  </a:lnTo>
                  <a:lnTo>
                    <a:pt x="128160" y="18691"/>
                  </a:lnTo>
                  <a:lnTo>
                    <a:pt x="170103" y="13208"/>
                  </a:lnTo>
                  <a:lnTo>
                    <a:pt x="193922" y="14993"/>
                  </a:lnTo>
                  <a:lnTo>
                    <a:pt x="240721" y="29710"/>
                  </a:lnTo>
                  <a:lnTo>
                    <a:pt x="274377" y="51958"/>
                  </a:lnTo>
                  <a:lnTo>
                    <a:pt x="286689" y="63500"/>
                  </a:lnTo>
                  <a:lnTo>
                    <a:pt x="289166" y="64516"/>
                  </a:lnTo>
                  <a:lnTo>
                    <a:pt x="292976" y="64516"/>
                  </a:lnTo>
                  <a:lnTo>
                    <a:pt x="294474" y="64008"/>
                  </a:lnTo>
                  <a:lnTo>
                    <a:pt x="298386" y="60325"/>
                  </a:lnTo>
                  <a:lnTo>
                    <a:pt x="298894" y="55625"/>
                  </a:lnTo>
                  <a:lnTo>
                    <a:pt x="284365" y="42052"/>
                  </a:lnTo>
                  <a:lnTo>
                    <a:pt x="247490" y="17948"/>
                  </a:lnTo>
                  <a:lnTo>
                    <a:pt x="196302" y="1934"/>
                  </a:lnTo>
                  <a:lnTo>
                    <a:pt x="170243" y="0"/>
                  </a:lnTo>
                  <a:close/>
                </a:path>
              </a:pathLst>
            </a:custGeom>
            <a:solidFill>
              <a:srgbClr val="647D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8">
              <a:extLst>
                <a:ext uri="{FF2B5EF4-FFF2-40B4-BE49-F238E27FC236}">
                  <a16:creationId xmlns:a16="http://schemas.microsoft.com/office/drawing/2014/main" id="{0EF6D8FC-DA98-A011-0DC2-3B3FE3CC169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4987" y="459104"/>
              <a:ext cx="316636" cy="2914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1623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F0BDC-79C4-2B24-983E-9B291388D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3D825FE-8903-9DF7-CB87-5CA164D61A5C}"/>
              </a:ext>
            </a:extLst>
          </p:cNvPr>
          <p:cNvSpPr/>
          <p:nvPr/>
        </p:nvSpPr>
        <p:spPr>
          <a:xfrm flipH="1">
            <a:off x="13809790" y="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D1A6A69-7EDB-44D5-CDB9-87B2A3CC53AF}"/>
              </a:ext>
            </a:extLst>
          </p:cNvPr>
          <p:cNvSpPr txBox="1"/>
          <p:nvPr/>
        </p:nvSpPr>
        <p:spPr>
          <a:xfrm>
            <a:off x="1028700" y="895350"/>
            <a:ext cx="14363700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sz="9600" b="1" i="1" u="sng" dirty="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Literature Review Insights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93D1B8-B676-8DB1-0C0D-625986B4BA53}"/>
              </a:ext>
            </a:extLst>
          </p:cNvPr>
          <p:cNvSpPr txBox="1"/>
          <p:nvPr/>
        </p:nvSpPr>
        <p:spPr>
          <a:xfrm>
            <a:off x="962439" y="2857500"/>
            <a:ext cx="125349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/>
              <a:t> Global EV Retrofitting Practices: </a:t>
            </a:r>
          </a:p>
          <a:p>
            <a:endParaRPr lang="en-US" sz="2800" b="1" dirty="0"/>
          </a:p>
          <a:p>
            <a:pPr marL="1258888" indent="-344488">
              <a:buFont typeface="Wingdings" panose="05000000000000000000" pitchFamily="2" charset="2"/>
              <a:buChar char="ü"/>
            </a:pPr>
            <a:r>
              <a:rPr lang="en-US" sz="2400" dirty="0"/>
              <a:t>Subsidies and incentives in Indonesia and Nepal. </a:t>
            </a:r>
          </a:p>
          <a:p>
            <a:pPr marL="1258888" indent="-344488">
              <a:buFont typeface="Wingdings" panose="05000000000000000000" pitchFamily="2" charset="2"/>
              <a:buChar char="ü"/>
            </a:pPr>
            <a:r>
              <a:rPr lang="en-US" sz="2400" dirty="0"/>
              <a:t>Successful use of BLDC motors and lithium-ion batteries.</a:t>
            </a:r>
          </a:p>
          <a:p>
            <a:pPr marL="914400"/>
            <a:r>
              <a:rPr lang="en-US" sz="2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/>
              <a:t> Challenges Identified: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800" b="1" dirty="0"/>
          </a:p>
          <a:p>
            <a:pPr marL="1258888" indent="-344488">
              <a:buFont typeface="Wingdings" panose="05000000000000000000" pitchFamily="2" charset="2"/>
              <a:buChar char="ü"/>
            </a:pPr>
            <a:r>
              <a:rPr lang="en-US" sz="2400" dirty="0"/>
              <a:t>High initial costs. </a:t>
            </a:r>
          </a:p>
          <a:p>
            <a:pPr marL="1258888" indent="-344488">
              <a:buFont typeface="Wingdings" panose="05000000000000000000" pitchFamily="2" charset="2"/>
              <a:buChar char="ü"/>
            </a:pPr>
            <a:r>
              <a:rPr lang="en-US" sz="2400" dirty="0"/>
              <a:t>Limited charging infrastructure. </a:t>
            </a:r>
          </a:p>
          <a:p>
            <a:pPr marL="914400"/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/>
              <a:t> Environmental and Economic Benefits: </a:t>
            </a:r>
          </a:p>
          <a:p>
            <a:endParaRPr lang="en-US" sz="2800" b="1" dirty="0"/>
          </a:p>
          <a:p>
            <a:pPr marL="914400" indent="344488"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US" sz="2400" dirty="0"/>
              <a:t>Emission reduction. </a:t>
            </a:r>
          </a:p>
          <a:p>
            <a:pPr marL="914400" indent="344488"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US" sz="2400" dirty="0"/>
              <a:t>Lower operating costs. </a:t>
            </a:r>
          </a:p>
        </p:txBody>
      </p:sp>
      <p:pic>
        <p:nvPicPr>
          <p:cNvPr id="1028" name="Picture 4" descr="A complete Guide to Literature Review in Research">
            <a:extLst>
              <a:ext uri="{FF2B5EF4-FFF2-40B4-BE49-F238E27FC236}">
                <a16:creationId xmlns:a16="http://schemas.microsoft.com/office/drawing/2014/main" id="{14CA3265-AC75-F9C1-2898-851C41270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096" y="4512632"/>
            <a:ext cx="7113717" cy="4497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2575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23130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0" y="2276155"/>
                </a:moveTo>
                <a:lnTo>
                  <a:pt x="5372897" y="2276155"/>
                </a:lnTo>
                <a:lnTo>
                  <a:pt x="5372897" y="0"/>
                </a:lnTo>
                <a:lnTo>
                  <a:pt x="0" y="0"/>
                </a:lnTo>
                <a:lnTo>
                  <a:pt x="0" y="22761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915103" y="23731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5372897" y="2276155"/>
                </a:moveTo>
                <a:lnTo>
                  <a:pt x="0" y="2276155"/>
                </a:lnTo>
                <a:lnTo>
                  <a:pt x="0" y="0"/>
                </a:lnTo>
                <a:lnTo>
                  <a:pt x="5372897" y="0"/>
                </a:lnTo>
                <a:lnTo>
                  <a:pt x="5372897" y="22761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064725" y="895350"/>
            <a:ext cx="10196150" cy="1321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9600" b="1" i="1" u="sng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Innovative Idea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C6876D-FB21-D95D-CD73-EA0504938C13}"/>
              </a:ext>
            </a:extLst>
          </p:cNvPr>
          <p:cNvSpPr txBox="1"/>
          <p:nvPr/>
        </p:nvSpPr>
        <p:spPr>
          <a:xfrm>
            <a:off x="1002075" y="2993789"/>
            <a:ext cx="1325880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INNOVATIVE IDEA :  </a:t>
            </a:r>
            <a:r>
              <a:rPr lang="en-US" sz="3200" dirty="0"/>
              <a:t>Plug-in Hybrid Model </a:t>
            </a:r>
          </a:p>
          <a:p>
            <a:pPr marL="862013" indent="-120650"/>
            <a:endParaRPr lang="en-US" dirty="0"/>
          </a:p>
          <a:p>
            <a:pPr marL="862013" indent="-120650">
              <a:buFont typeface="Wingdings" panose="05000000000000000000" pitchFamily="2" charset="2"/>
              <a:buChar char="ü"/>
            </a:pPr>
            <a:r>
              <a:rPr lang="en-US" sz="2800" b="1" dirty="0"/>
              <a:t>  What is a Plug-in Hybrid Model? </a:t>
            </a:r>
          </a:p>
          <a:p>
            <a:endParaRPr lang="en-US" dirty="0"/>
          </a:p>
          <a:p>
            <a:pPr marL="2743200" indent="-396875">
              <a:buFont typeface="Courier New" panose="02070309020205020404" pitchFamily="49" charset="0"/>
              <a:buChar char="o"/>
            </a:pPr>
            <a:r>
              <a:rPr lang="en-US" sz="2400" dirty="0"/>
              <a:t>Combines an electric drivetrain with a fuel engine. </a:t>
            </a:r>
          </a:p>
          <a:p>
            <a:pPr marL="2743200" indent="-396875">
              <a:buFont typeface="Courier New" panose="02070309020205020404" pitchFamily="49" charset="0"/>
              <a:buChar char="o"/>
            </a:pPr>
            <a:r>
              <a:rPr lang="en-US" sz="2400" dirty="0"/>
              <a:t>Switchable modes: Electric for short commutes, Fuel for long-range. </a:t>
            </a:r>
          </a:p>
          <a:p>
            <a:pPr marL="2743200" indent="-396875"/>
            <a:endParaRPr lang="en-US" dirty="0"/>
          </a:p>
          <a:p>
            <a:pPr marL="1139825" indent="-457200">
              <a:buFont typeface="Wingdings" panose="05000000000000000000" pitchFamily="2" charset="2"/>
              <a:buChar char="ü"/>
            </a:pPr>
            <a:r>
              <a:rPr lang="en-US" sz="2800" b="1" dirty="0"/>
              <a:t>Benefits: </a:t>
            </a:r>
          </a:p>
          <a:p>
            <a:endParaRPr lang="en-US" sz="2800" b="1" dirty="0"/>
          </a:p>
          <a:p>
            <a:pPr marL="2743200" indent="-396875">
              <a:buFont typeface="Courier New" panose="02070309020205020404" pitchFamily="49" charset="0"/>
              <a:buChar char="o"/>
            </a:pPr>
            <a:r>
              <a:rPr lang="en-US" sz="2400" dirty="0"/>
              <a:t>Addresses range anxiety. </a:t>
            </a:r>
          </a:p>
          <a:p>
            <a:pPr marL="2743200" indent="-396875">
              <a:buFont typeface="Courier New" panose="02070309020205020404" pitchFamily="49" charset="0"/>
              <a:buChar char="o"/>
            </a:pPr>
            <a:r>
              <a:rPr lang="en-US" sz="2400" dirty="0"/>
              <a:t>Reduces fuel consumption. </a:t>
            </a:r>
          </a:p>
          <a:p>
            <a:pPr marL="2743200" indent="-396875">
              <a:buFont typeface="Courier New" panose="02070309020205020404" pitchFamily="49" charset="0"/>
              <a:buChar char="o"/>
            </a:pPr>
            <a:r>
              <a:rPr lang="en-US" sz="2400" dirty="0"/>
              <a:t>Suitable for areas with limited charging infrastructure.</a:t>
            </a: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60F324BA-0578-8C9A-0052-D3062585F99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96800" y="2963063"/>
            <a:ext cx="4955026" cy="52866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331905" cy="10287000"/>
            <a:chOff x="0" y="0"/>
            <a:chExt cx="166766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7662" cy="2709333"/>
            </a:xfrm>
            <a:custGeom>
              <a:avLst/>
              <a:gdLst/>
              <a:ahLst/>
              <a:cxnLst/>
              <a:rect l="l" t="t" r="r" b="b"/>
              <a:pathLst>
                <a:path w="1667662" h="2709333">
                  <a:moveTo>
                    <a:pt x="0" y="0"/>
                  </a:moveTo>
                  <a:lnTo>
                    <a:pt x="1667662" y="0"/>
                  </a:lnTo>
                  <a:lnTo>
                    <a:pt x="16676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D9D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67662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1573395" y="0"/>
            <a:ext cx="6714605" cy="10287000"/>
          </a:xfrm>
          <a:custGeom>
            <a:avLst/>
            <a:gdLst/>
            <a:ahLst/>
            <a:cxnLst/>
            <a:rect l="l" t="t" r="r" b="b"/>
            <a:pathLst>
              <a:path w="6714605" h="10287000">
                <a:moveTo>
                  <a:pt x="0" y="0"/>
                </a:moveTo>
                <a:lnTo>
                  <a:pt x="6714605" y="0"/>
                </a:lnTo>
                <a:lnTo>
                  <a:pt x="67146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14400" y="990600"/>
            <a:ext cx="8458200" cy="1215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9600" b="1" u="sng" dirty="0">
                <a:solidFill>
                  <a:srgbClr val="00206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Conversion Kit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DFDE59-C1C0-B516-C71C-88A52B07A984}"/>
              </a:ext>
            </a:extLst>
          </p:cNvPr>
          <p:cNvSpPr txBox="1"/>
          <p:nvPr/>
        </p:nvSpPr>
        <p:spPr>
          <a:xfrm>
            <a:off x="9372600" y="3502705"/>
            <a:ext cx="91440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Chosen Conversion Kit for Bajaj CT 100 ,</a:t>
            </a:r>
          </a:p>
          <a:p>
            <a:endParaRPr lang="en-US" dirty="0"/>
          </a:p>
          <a:p>
            <a:pPr marL="569913" indent="-52388">
              <a:buFont typeface="Wingdings" panose="05000000000000000000" pitchFamily="2" charset="2"/>
              <a:buChar char="q"/>
            </a:pPr>
            <a:r>
              <a:rPr lang="en-US" sz="2400" b="1" dirty="0"/>
              <a:t>  Kit Components: </a:t>
            </a:r>
          </a:p>
          <a:p>
            <a:pPr marL="1087438" indent="-346075"/>
            <a:endParaRPr lang="en-US" dirty="0"/>
          </a:p>
          <a:p>
            <a:pPr marL="1828800" indent="-344488">
              <a:buAutoNum type="arabicPeriod"/>
            </a:pPr>
            <a:r>
              <a:rPr lang="en-US" sz="2400" dirty="0"/>
              <a:t>17" Alloy/Spokes 1</a:t>
            </a:r>
            <a:r>
              <a:rPr lang="si-LK" sz="2400" dirty="0"/>
              <a:t>8</a:t>
            </a:r>
            <a:r>
              <a:rPr lang="en-US" sz="2400" dirty="0"/>
              <a:t>00W Hub Motor </a:t>
            </a:r>
          </a:p>
          <a:p>
            <a:pPr marL="1828800" indent="-344488">
              <a:buAutoNum type="arabicPeriod"/>
            </a:pPr>
            <a:r>
              <a:rPr lang="en-US" sz="2400" dirty="0"/>
              <a:t>1</a:t>
            </a:r>
            <a:r>
              <a:rPr lang="si-LK" sz="2400" dirty="0"/>
              <a:t>8</a:t>
            </a:r>
            <a:r>
              <a:rPr lang="en-US" sz="2400" dirty="0"/>
              <a:t>00W Controller </a:t>
            </a:r>
          </a:p>
          <a:p>
            <a:pPr marL="1828800" indent="-344488">
              <a:buAutoNum type="arabicPeriod"/>
            </a:pPr>
            <a:r>
              <a:rPr lang="en-US" sz="2400" dirty="0"/>
              <a:t>Display Meter </a:t>
            </a:r>
          </a:p>
          <a:p>
            <a:pPr marL="1828800" indent="-344488">
              <a:buAutoNum type="arabicPeriod"/>
            </a:pPr>
            <a:r>
              <a:rPr lang="en-US" sz="2400" dirty="0"/>
              <a:t>3-Speed Forward/Reverse Throttle </a:t>
            </a:r>
          </a:p>
          <a:p>
            <a:pPr marL="1828800" indent="-344488">
              <a:buAutoNum type="arabicPeriod"/>
            </a:pPr>
            <a:r>
              <a:rPr lang="en-US" sz="2400" dirty="0"/>
              <a:t>Horn, Ignition Key, Anti-Theft Alarm </a:t>
            </a:r>
          </a:p>
          <a:p>
            <a:pPr marL="1828800" indent="-344488">
              <a:buAutoNum type="arabicPeriod"/>
            </a:pPr>
            <a:r>
              <a:rPr lang="en-US" sz="2400" dirty="0"/>
              <a:t>10A DC Converter and 3-Pin Charging Wire </a:t>
            </a:r>
            <a:endParaRPr lang="si-LK" sz="2400" dirty="0"/>
          </a:p>
          <a:p>
            <a:pPr marL="1828800" indent="-344488">
              <a:buAutoNum type="arabicPeriod"/>
            </a:pPr>
            <a:r>
              <a:rPr lang="en-US" sz="2400" dirty="0"/>
              <a:t>48V 60Ah LiFePO4 Battery</a:t>
            </a:r>
          </a:p>
          <a:p>
            <a:pPr marL="741363"/>
            <a:endParaRPr lang="en-US" sz="2400" b="1" dirty="0"/>
          </a:p>
          <a:p>
            <a:pPr marL="9144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 Why Bajaj CT 100? </a:t>
            </a:r>
          </a:p>
          <a:p>
            <a:endParaRPr lang="en-US" sz="2400" dirty="0"/>
          </a:p>
          <a:p>
            <a:pPr marL="1776413" indent="-292100">
              <a:buFont typeface="Wingdings" panose="05000000000000000000" pitchFamily="2" charset="2"/>
              <a:buChar char="ü"/>
            </a:pPr>
            <a:r>
              <a:rPr lang="en-US" sz="2400" dirty="0"/>
              <a:t> Popular model in Sri Lanka with wide user base.</a:t>
            </a:r>
          </a:p>
        </p:txBody>
      </p:sp>
      <p:pic>
        <p:nvPicPr>
          <p:cNvPr id="21" name="object 3">
            <a:extLst>
              <a:ext uri="{FF2B5EF4-FFF2-40B4-BE49-F238E27FC236}">
                <a16:creationId xmlns:a16="http://schemas.microsoft.com/office/drawing/2014/main" id="{8375543F-C734-E464-1C54-551F145D67F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47387" y="3502705"/>
            <a:ext cx="6331905" cy="479134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F1F210E-15CB-AE9A-5BBA-0B6A67338D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8742" y="105866"/>
            <a:ext cx="2985184" cy="2985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92D0B-C029-B3CC-22D5-199F925C0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062F74-B022-1E55-C358-11F312256B18}"/>
              </a:ext>
            </a:extLst>
          </p:cNvPr>
          <p:cNvSpPr/>
          <p:nvPr/>
        </p:nvSpPr>
        <p:spPr>
          <a:xfrm flipH="1">
            <a:off x="13809790" y="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A2930AE-8CEB-D65E-F389-CF9700F6E093}"/>
              </a:ext>
            </a:extLst>
          </p:cNvPr>
          <p:cNvSpPr txBox="1"/>
          <p:nvPr/>
        </p:nvSpPr>
        <p:spPr>
          <a:xfrm>
            <a:off x="1028700" y="895350"/>
            <a:ext cx="13525500" cy="1190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sz="6000" b="1" u="sng" dirty="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Motor &amp; Battery selection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2AB59B-466B-D24D-610E-F607AFA6D1D4}"/>
              </a:ext>
            </a:extLst>
          </p:cNvPr>
          <p:cNvSpPr txBox="1"/>
          <p:nvPr/>
        </p:nvSpPr>
        <p:spPr>
          <a:xfrm>
            <a:off x="1028700" y="3063907"/>
            <a:ext cx="97155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/>
              <a:t>Motor Selection Calculations:</a:t>
            </a:r>
          </a:p>
          <a:p>
            <a:endParaRPr lang="en-US" sz="2800" b="1" u="sng" dirty="0"/>
          </a:p>
          <a:p>
            <a:pPr marL="914400" indent="457200">
              <a:buFont typeface="Wingdings" panose="05000000000000000000" pitchFamily="2" charset="2"/>
              <a:buChar char="q"/>
            </a:pPr>
            <a:r>
              <a:rPr lang="en-US" sz="2800" dirty="0"/>
              <a:t>Total Resistance Force: </a:t>
            </a:r>
            <a:r>
              <a:rPr lang="en-US" sz="2800" b="1" dirty="0"/>
              <a:t>96.947 N</a:t>
            </a:r>
            <a:endParaRPr lang="en-US" sz="2800" dirty="0"/>
          </a:p>
          <a:p>
            <a:pPr marL="914400" indent="457200">
              <a:buFont typeface="Wingdings" panose="05000000000000000000" pitchFamily="2" charset="2"/>
              <a:buChar char="q"/>
            </a:pPr>
            <a:r>
              <a:rPr lang="en-US" sz="2800" dirty="0"/>
              <a:t>Required Power: </a:t>
            </a:r>
            <a:r>
              <a:rPr lang="en-US" sz="2800" b="1" dirty="0"/>
              <a:t>1.616 kW (~1616 W)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1371600" indent="-457200">
              <a:buFont typeface="Wingdings" panose="05000000000000000000" pitchFamily="2" charset="2"/>
              <a:buChar char="ü"/>
            </a:pPr>
            <a:r>
              <a:rPr lang="en-US" sz="2800" b="1" dirty="0"/>
              <a:t>Selected Motor: </a:t>
            </a:r>
            <a:r>
              <a:rPr lang="en-US" sz="2800" b="1" u="sng" dirty="0">
                <a:solidFill>
                  <a:srgbClr val="FF0000"/>
                </a:solidFill>
              </a:rPr>
              <a:t>48V 1800W, 4400 RPM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b="1" u="sng" dirty="0"/>
              <a:t>Battery Selection Calculations:</a:t>
            </a:r>
          </a:p>
          <a:p>
            <a:endParaRPr lang="en-US" sz="2800" dirty="0"/>
          </a:p>
          <a:p>
            <a:pPr marL="1371600" indent="-457200">
              <a:buFont typeface="Wingdings" panose="05000000000000000000" pitchFamily="2" charset="2"/>
              <a:buChar char="q"/>
            </a:pPr>
            <a:r>
              <a:rPr lang="en-US" sz="2800" dirty="0"/>
              <a:t>Motor Current: </a:t>
            </a:r>
            <a:r>
              <a:rPr lang="en-US" sz="2800" b="1" dirty="0"/>
              <a:t>37.5 A</a:t>
            </a:r>
            <a:endParaRPr lang="en-US" sz="2800" dirty="0"/>
          </a:p>
          <a:p>
            <a:pPr marL="1371600" indent="-457200">
              <a:buFont typeface="Wingdings" panose="05000000000000000000" pitchFamily="2" charset="2"/>
              <a:buChar char="q"/>
            </a:pPr>
            <a:r>
              <a:rPr lang="en-US" sz="2800" dirty="0"/>
              <a:t>Battery Energy: </a:t>
            </a:r>
            <a:r>
              <a:rPr lang="en-US" sz="2800" b="1" dirty="0"/>
              <a:t>2250 </a:t>
            </a:r>
            <a:r>
              <a:rPr lang="en-US" sz="2800" b="1" dirty="0" err="1"/>
              <a:t>Wh</a:t>
            </a:r>
            <a:endParaRPr lang="en-US" sz="2800" dirty="0"/>
          </a:p>
          <a:p>
            <a:pPr marL="1371600" indent="-457200">
              <a:buFont typeface="Wingdings" panose="05000000000000000000" pitchFamily="2" charset="2"/>
              <a:buChar char="q"/>
            </a:pPr>
            <a:r>
              <a:rPr lang="en-US" sz="2800" dirty="0"/>
              <a:t>Required Ampere-Hour: </a:t>
            </a:r>
            <a:r>
              <a:rPr lang="en-US" sz="2800" b="1" dirty="0"/>
              <a:t>46.875 Ah</a:t>
            </a:r>
          </a:p>
          <a:p>
            <a:pPr marL="914400"/>
            <a:endParaRPr lang="en-US" sz="2800" dirty="0"/>
          </a:p>
          <a:p>
            <a:pPr marL="1371600" indent="-457200">
              <a:buFont typeface="Wingdings" panose="05000000000000000000" pitchFamily="2" charset="2"/>
              <a:buChar char="ü"/>
            </a:pPr>
            <a:r>
              <a:rPr lang="en-US" sz="2800" b="1" dirty="0"/>
              <a:t>Chosen Battery: </a:t>
            </a:r>
            <a:r>
              <a:rPr lang="en-US" sz="2800" b="1" u="sng" dirty="0">
                <a:solidFill>
                  <a:srgbClr val="FF0000"/>
                </a:solidFill>
              </a:rPr>
              <a:t>48V 60Ah LiFePO4</a:t>
            </a:r>
            <a:endParaRPr lang="en-US" sz="2800" u="sng" dirty="0">
              <a:solidFill>
                <a:srgbClr val="FF0000"/>
              </a:solidFill>
            </a:endParaRPr>
          </a:p>
          <a:p>
            <a:endParaRPr lang="en-US" sz="2400" dirty="0"/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C26B4A5E-34C3-26C8-B9E4-618D9426F34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73386" y="3112175"/>
            <a:ext cx="5072570" cy="490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633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FF7F2-DA67-ADF9-E11E-895EFF10C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F82C47-CD31-2D49-E129-3D02AF96CDBA}"/>
              </a:ext>
            </a:extLst>
          </p:cNvPr>
          <p:cNvSpPr/>
          <p:nvPr/>
        </p:nvSpPr>
        <p:spPr>
          <a:xfrm flipH="1">
            <a:off x="13809790" y="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507AFE4-4650-F8E9-569B-E42DC9CFED98}"/>
              </a:ext>
            </a:extLst>
          </p:cNvPr>
          <p:cNvSpPr txBox="1"/>
          <p:nvPr/>
        </p:nvSpPr>
        <p:spPr>
          <a:xfrm>
            <a:off x="1028700" y="895350"/>
            <a:ext cx="9715500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sz="9600" b="1" u="sng" dirty="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Work Completed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EC50B-0EAD-DA5A-0AFC-B18C688C1506}"/>
              </a:ext>
            </a:extLst>
          </p:cNvPr>
          <p:cNvSpPr txBox="1"/>
          <p:nvPr/>
        </p:nvSpPr>
        <p:spPr>
          <a:xfrm>
            <a:off x="1028700" y="3063907"/>
            <a:ext cx="97155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In semester 07,</a:t>
            </a:r>
          </a:p>
          <a:p>
            <a:endParaRPr lang="en-US" dirty="0"/>
          </a:p>
          <a:p>
            <a:pPr marL="1536700" indent="-449263">
              <a:buFont typeface="Wingdings" panose="05000000000000000000" pitchFamily="2" charset="2"/>
              <a:buChar char="v"/>
            </a:pPr>
            <a:r>
              <a:rPr lang="en-US" sz="2400" b="1" dirty="0"/>
              <a:t>Data Collection: </a:t>
            </a:r>
          </a:p>
          <a:p>
            <a:pPr marL="1946275" indent="-290513">
              <a:buFont typeface="Courier New" panose="02070309020205020404" pitchFamily="49" charset="0"/>
              <a:buChar char="o"/>
            </a:pPr>
            <a:r>
              <a:rPr lang="en-US" sz="2400" dirty="0"/>
              <a:t>Surveys and interviews with motorcycle users. </a:t>
            </a:r>
          </a:p>
          <a:p>
            <a:pPr marL="1946275" indent="-290513">
              <a:buFont typeface="Courier New" panose="02070309020205020404" pitchFamily="49" charset="0"/>
              <a:buChar char="o"/>
            </a:pPr>
            <a:r>
              <a:rPr lang="en-US" sz="2400" dirty="0"/>
              <a:t>Analysis of fuel consumption and user preferences. </a:t>
            </a:r>
          </a:p>
          <a:p>
            <a:pPr marL="1946275" indent="-858838"/>
            <a:endParaRPr lang="en-US" sz="2400" b="1" dirty="0"/>
          </a:p>
          <a:p>
            <a:pPr marL="1087438" indent="120650">
              <a:buFont typeface="Wingdings" panose="05000000000000000000" pitchFamily="2" charset="2"/>
              <a:buChar char="v"/>
            </a:pPr>
            <a:r>
              <a:rPr lang="en-US" sz="2400" b="1" dirty="0"/>
              <a:t>   Component Research: </a:t>
            </a:r>
          </a:p>
          <a:p>
            <a:pPr marL="1946275" indent="-290513">
              <a:buFont typeface="Courier New" panose="02070309020205020404" pitchFamily="49" charset="0"/>
              <a:buChar char="o"/>
            </a:pPr>
            <a:r>
              <a:rPr lang="en-US" sz="2400" dirty="0"/>
              <a:t>Verified compatibility of the conversion kit with the Bajaj CT 100. </a:t>
            </a:r>
          </a:p>
          <a:p>
            <a:pPr marL="1946275" indent="-858838"/>
            <a:endParaRPr lang="en-US" sz="2400" b="1" dirty="0"/>
          </a:p>
          <a:p>
            <a:pPr marL="1536700" indent="-449263">
              <a:buFont typeface="Wingdings" panose="05000000000000000000" pitchFamily="2" charset="2"/>
              <a:buChar char="v"/>
            </a:pPr>
            <a:r>
              <a:rPr lang="en-US" sz="2400" b="1" dirty="0"/>
              <a:t>Started Preliminary Design Work: </a:t>
            </a:r>
          </a:p>
          <a:p>
            <a:pPr marL="1946275" indent="-290513">
              <a:buFont typeface="Courier New" panose="02070309020205020404" pitchFamily="49" charset="0"/>
              <a:buChar char="o"/>
            </a:pPr>
            <a:r>
              <a:rPr lang="en-US" sz="2400" dirty="0"/>
              <a:t>3D models in SolidWorks and AutoCAD.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7D92CFA0-0914-231E-3948-6248163CB99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73386" y="3112175"/>
            <a:ext cx="5072570" cy="490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097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5ACCA-D473-4532-2843-286080285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3519A75-92D4-AB19-134F-8F51AF7CB621}"/>
              </a:ext>
            </a:extLst>
          </p:cNvPr>
          <p:cNvSpPr/>
          <p:nvPr/>
        </p:nvSpPr>
        <p:spPr>
          <a:xfrm flipH="1">
            <a:off x="13809790" y="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E724E6D-B592-AFD4-3704-0BB438AC4E57}"/>
              </a:ext>
            </a:extLst>
          </p:cNvPr>
          <p:cNvSpPr txBox="1"/>
          <p:nvPr/>
        </p:nvSpPr>
        <p:spPr>
          <a:xfrm>
            <a:off x="1028700" y="895350"/>
            <a:ext cx="14363700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sz="9600" b="1" u="sng" dirty="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Challenges &amp; Mitigations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D5F089-FF6E-1BD8-85D9-775947C3B3A4}"/>
              </a:ext>
            </a:extLst>
          </p:cNvPr>
          <p:cNvSpPr txBox="1"/>
          <p:nvPr/>
        </p:nvSpPr>
        <p:spPr>
          <a:xfrm>
            <a:off x="1371600" y="2628900"/>
            <a:ext cx="1061964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Component Integration: </a:t>
            </a:r>
          </a:p>
          <a:p>
            <a:pPr marL="2119312" indent="-342900">
              <a:buFont typeface="Courier New" panose="02070309020205020404" pitchFamily="49" charset="0"/>
              <a:buChar char="o"/>
            </a:pPr>
            <a:r>
              <a:rPr lang="en-US" sz="2400" b="1" dirty="0"/>
              <a:t>Challenge:</a:t>
            </a:r>
            <a:r>
              <a:rPr lang="en-US" sz="2400" dirty="0"/>
              <a:t> Combining electric and fuel systems. </a:t>
            </a:r>
          </a:p>
          <a:p>
            <a:pPr marL="2119312" indent="-342900">
              <a:buFont typeface="Courier New" panose="02070309020205020404" pitchFamily="49" charset="0"/>
              <a:buChar char="o"/>
            </a:pPr>
            <a:r>
              <a:rPr lang="en-US" sz="2400" b="1" dirty="0"/>
              <a:t>Mitigation: </a:t>
            </a:r>
            <a:r>
              <a:rPr lang="en-US" sz="2400" dirty="0"/>
              <a:t>Research advanced controllers for smooth switching.</a:t>
            </a:r>
          </a:p>
          <a:p>
            <a:pPr marL="1776412"/>
            <a:r>
              <a:rPr lang="en-US" sz="2400" dirty="0"/>
              <a:t> </a:t>
            </a:r>
          </a:p>
          <a:p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Battery Costs: </a:t>
            </a:r>
          </a:p>
          <a:p>
            <a:pPr marL="2120900" indent="-344488">
              <a:buFont typeface="Courier New" panose="02070309020205020404" pitchFamily="49" charset="0"/>
              <a:buChar char="o"/>
            </a:pPr>
            <a:r>
              <a:rPr lang="en-US" sz="2400" b="1" dirty="0"/>
              <a:t>Challenge: </a:t>
            </a:r>
            <a:r>
              <a:rPr lang="en-US" sz="2400" dirty="0"/>
              <a:t>High costs of lithium-ion batteries. </a:t>
            </a:r>
          </a:p>
          <a:p>
            <a:pPr marL="2120900" indent="-344488">
              <a:buFont typeface="Courier New" panose="02070309020205020404" pitchFamily="49" charset="0"/>
              <a:buChar char="o"/>
            </a:pPr>
            <a:r>
              <a:rPr lang="en-US" sz="2400" b="1" dirty="0"/>
              <a:t>Mitigation: </a:t>
            </a:r>
            <a:r>
              <a:rPr lang="en-US" sz="2400" dirty="0"/>
              <a:t>Propose modular designs to reduce upfront costs.  </a:t>
            </a:r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Public Resistance: </a:t>
            </a:r>
          </a:p>
          <a:p>
            <a:pPr marL="2120900" indent="-344488">
              <a:buFont typeface="Courier New" panose="02070309020205020404" pitchFamily="49" charset="0"/>
              <a:buChar char="o"/>
            </a:pPr>
            <a:r>
              <a:rPr lang="en-US" sz="2400" b="1" dirty="0"/>
              <a:t>Challenge: </a:t>
            </a:r>
            <a:r>
              <a:rPr lang="en-US" sz="2400" dirty="0"/>
              <a:t>Range anxiety and maintenance concerns. </a:t>
            </a:r>
          </a:p>
          <a:p>
            <a:pPr marL="2120900" indent="-344488">
              <a:buFont typeface="Courier New" panose="02070309020205020404" pitchFamily="49" charset="0"/>
              <a:buChar char="o"/>
            </a:pPr>
            <a:r>
              <a:rPr lang="en-US" sz="2400" b="1" dirty="0"/>
              <a:t>Mitigation: </a:t>
            </a:r>
            <a:r>
              <a:rPr lang="en-US" sz="2400" dirty="0"/>
              <a:t>Real-time energy monitoring for user confidence. </a:t>
            </a: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AFA76ED0-0C64-353A-8187-A4D1C6EBB45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91245" y="3695700"/>
            <a:ext cx="56388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68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809790" y="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95350"/>
            <a:ext cx="13449300" cy="1233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sz="7200" b="1" u="sng" dirty="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Future Work &amp; Expected Outcomes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32A456-F684-67B3-8717-AF3F597E0138}"/>
              </a:ext>
            </a:extLst>
          </p:cNvPr>
          <p:cNvSpPr txBox="1"/>
          <p:nvPr/>
        </p:nvSpPr>
        <p:spPr>
          <a:xfrm>
            <a:off x="1005509" y="2709969"/>
            <a:ext cx="914400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Future Work: </a:t>
            </a:r>
          </a:p>
          <a:p>
            <a:pPr marL="1206500" indent="-517525"/>
            <a:endParaRPr lang="en-US" sz="2800" b="1" dirty="0"/>
          </a:p>
          <a:p>
            <a:pPr marL="1206500" indent="-517525">
              <a:buAutoNum type="arabicPeriod"/>
            </a:pPr>
            <a:r>
              <a:rPr lang="en-US" sz="2400" dirty="0"/>
              <a:t>Finalize the EV and plug-in hybrid designs. </a:t>
            </a:r>
          </a:p>
          <a:p>
            <a:pPr marL="1206500" indent="-517525">
              <a:buAutoNum type="arabicPeriod"/>
            </a:pPr>
            <a:r>
              <a:rPr lang="en-US" sz="2400" dirty="0"/>
              <a:t>Develop and test prototypes for performance. </a:t>
            </a:r>
          </a:p>
          <a:p>
            <a:pPr marL="1206500" indent="-517525">
              <a:buAutoNum type="arabicPeriod"/>
            </a:pPr>
            <a:r>
              <a:rPr lang="en-US" sz="2400" dirty="0"/>
              <a:t>Conduct financial and environmental analyses. </a:t>
            </a:r>
          </a:p>
          <a:p>
            <a:pPr marL="1206500" indent="-517525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sz="2800" b="1" dirty="0"/>
              <a:t>Expected Outcomes: </a:t>
            </a:r>
          </a:p>
          <a:p>
            <a:endParaRPr lang="en-US" sz="2800" b="1" dirty="0"/>
          </a:p>
          <a:p>
            <a:pPr marL="1206500" indent="-517525">
              <a:buFont typeface="+mj-lt"/>
              <a:buAutoNum type="arabicPeriod"/>
            </a:pPr>
            <a:r>
              <a:rPr lang="en-US" sz="2400" dirty="0"/>
              <a:t>Functional prototypes demonstrating technical feasibility. </a:t>
            </a:r>
          </a:p>
          <a:p>
            <a:pPr marL="1206500" indent="-517525">
              <a:buFont typeface="+mj-lt"/>
              <a:buAutoNum type="arabicPeriod"/>
            </a:pPr>
            <a:r>
              <a:rPr lang="en-US" sz="2400" dirty="0"/>
              <a:t>Scalable solutions for Sri Lanka’s transportation needs. </a:t>
            </a:r>
          </a:p>
          <a:p>
            <a:pPr marL="1206500" indent="-517525">
              <a:buFont typeface="+mj-lt"/>
              <a:buAutoNum type="arabicPeriod"/>
            </a:pPr>
            <a:r>
              <a:rPr lang="en-US" sz="2400" dirty="0"/>
              <a:t>Policy recommendations for EV adoption.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A40855-2112-3328-2A58-954BB0A81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5414" y="3771900"/>
            <a:ext cx="5405172" cy="57639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95987" y="4121762"/>
            <a:ext cx="7696582" cy="4373411"/>
            <a:chOff x="0" y="0"/>
            <a:chExt cx="10262109" cy="583121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7436" b="7436"/>
            <a:stretch>
              <a:fillRect/>
            </a:stretch>
          </p:blipFill>
          <p:spPr>
            <a:xfrm>
              <a:off x="0" y="0"/>
              <a:ext cx="10262109" cy="5831215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>
            <a:off x="14587794" y="64770"/>
            <a:ext cx="3700206" cy="3803950"/>
          </a:xfrm>
          <a:custGeom>
            <a:avLst/>
            <a:gdLst/>
            <a:ahLst/>
            <a:cxnLst/>
            <a:rect l="l" t="t" r="r" b="b"/>
            <a:pathLst>
              <a:path w="3700206" h="3803950">
                <a:moveTo>
                  <a:pt x="0" y="0"/>
                </a:moveTo>
                <a:lnTo>
                  <a:pt x="3700206" y="0"/>
                </a:lnTo>
                <a:lnTo>
                  <a:pt x="3700206" y="3803950"/>
                </a:lnTo>
                <a:lnTo>
                  <a:pt x="0" y="3803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895350"/>
            <a:ext cx="7571652" cy="1321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sz="9600" b="1" u="sng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Conclusion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1D47DF-6267-E618-9CCB-DCF86AE46AB4}"/>
              </a:ext>
            </a:extLst>
          </p:cNvPr>
          <p:cNvSpPr txBox="1"/>
          <p:nvPr/>
        </p:nvSpPr>
        <p:spPr>
          <a:xfrm>
            <a:off x="1219200" y="2930481"/>
            <a:ext cx="91440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Summary: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/>
              <a:t>EV conversions address environmental and economic challenges in Sri Lanka.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/>
              <a:t>Plug-in hybrid models offer flexibility and reliability for diverse user needs.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/>
              <a:t>Combines innovative design, global practices, and local applicability.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3066628" cy="10287000"/>
          </a:xfrm>
          <a:custGeom>
            <a:avLst/>
            <a:gdLst/>
            <a:ahLst/>
            <a:cxnLst/>
            <a:rect l="l" t="t" r="r" b="b"/>
            <a:pathLst>
              <a:path w="13066628" h="10287000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296400" y="4305300"/>
            <a:ext cx="8115300" cy="206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10"/>
              </a:lnSpc>
            </a:pPr>
            <a:r>
              <a:rPr lang="en-US" sz="12007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635</Words>
  <Application>Microsoft Office PowerPoint</Application>
  <PresentationFormat>Custom</PresentationFormat>
  <Paragraphs>154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Glacial Indifference</vt:lpstr>
      <vt:lpstr>Cormorant Garamond Bold</vt:lpstr>
      <vt:lpstr>Arial MT</vt:lpstr>
      <vt:lpstr>Wingdings</vt:lpstr>
      <vt:lpstr>Courier New</vt:lpstr>
      <vt:lpstr>Cormorant Garamond Bold Italics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Purple Simple Research Proposal Presentation</dc:title>
  <dc:creator>Salinda Madushan</dc:creator>
  <cp:lastModifiedBy>Salinda Madushan</cp:lastModifiedBy>
  <cp:revision>8</cp:revision>
  <dcterms:created xsi:type="dcterms:W3CDTF">2006-08-16T00:00:00Z</dcterms:created>
  <dcterms:modified xsi:type="dcterms:W3CDTF">2025-01-29T18:16:23Z</dcterms:modified>
  <dc:identifier>DAGLCPOXeK8</dc:identifier>
</cp:coreProperties>
</file>